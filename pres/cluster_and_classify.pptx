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8" r:id="rId3"/>
    <p:sldId id="259" r:id="rId4"/>
    <p:sldId id="261" r:id="rId5"/>
    <p:sldId id="270" r:id="rId6"/>
    <p:sldId id="262" r:id="rId7"/>
    <p:sldId id="269" r:id="rId8"/>
    <p:sldId id="271" r:id="rId9"/>
    <p:sldId id="272" r:id="rId10"/>
    <p:sldId id="268" r:id="rId11"/>
    <p:sldId id="273" r:id="rId12"/>
    <p:sldId id="274" r:id="rId13"/>
    <p:sldId id="276" r:id="rId14"/>
    <p:sldId id="277" r:id="rId15"/>
    <p:sldId id="278" r:id="rId16"/>
    <p:sldId id="280" r:id="rId17"/>
    <p:sldId id="281" r:id="rId18"/>
    <p:sldId id="282" r:id="rId19"/>
    <p:sldId id="283" r:id="rId20"/>
    <p:sldId id="284" r:id="rId21"/>
    <p:sldId id="285" r:id="rId22"/>
    <p:sldId id="286" r:id="rId23"/>
    <p:sldId id="287" r:id="rId24"/>
    <p:sldId id="288" r:id="rId25"/>
    <p:sldId id="289" r:id="rId26"/>
    <p:sldId id="295" r:id="rId27"/>
    <p:sldId id="290" r:id="rId28"/>
    <p:sldId id="291" r:id="rId29"/>
    <p:sldId id="296" r:id="rId30"/>
    <p:sldId id="292" r:id="rId31"/>
    <p:sldId id="294" r:id="rId32"/>
    <p:sldId id="293" r:id="rId33"/>
    <p:sldId id="297" r:id="rId34"/>
    <p:sldId id="298" r:id="rId35"/>
    <p:sldId id="299" r:id="rId36"/>
    <p:sldId id="300" r:id="rId37"/>
    <p:sldId id="301" r:id="rId38"/>
    <p:sldId id="265" r:id="rId39"/>
    <p:sldId id="266" r:id="rId40"/>
    <p:sldId id="267"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EE0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341" autoAdjust="0"/>
  </p:normalViewPr>
  <p:slideViewPr>
    <p:cSldViewPr snapToGrid="0">
      <p:cViewPr varScale="1">
        <p:scale>
          <a:sx n="100" d="100"/>
          <a:sy n="100" d="100"/>
        </p:scale>
        <p:origin x="96"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5F3BCA-3868-42D0-AA9C-F40E6A8EE549}"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F74718-2ACB-47EA-9308-4A99C0E4EC8A}" type="slidenum">
              <a:rPr lang="en-US" smtClean="0"/>
              <a:t>‹#›</a:t>
            </a:fld>
            <a:endParaRPr lang="en-US"/>
          </a:p>
        </p:txBody>
      </p:sp>
    </p:spTree>
    <p:extLst>
      <p:ext uri="{BB962C8B-B14F-4D97-AF65-F5344CB8AC3E}">
        <p14:creationId xmlns:p14="http://schemas.microsoft.com/office/powerpoint/2010/main" val="1821464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['N029-703070', 'N032-674185-IB', 'N010-703070', 'N023-703070',</a:t>
            </a:r>
          </a:p>
          <a:p>
            <a:r>
              <a:rPr lang="pt-BR" dirty="0"/>
              <a:t>       'N004-703070', 'AA1460', 'AA1196', 'AA0947', 'N046-658735-AR', 'AA1521',</a:t>
            </a:r>
          </a:p>
          <a:p>
            <a:r>
              <a:rPr lang="pt-BR" dirty="0"/>
              <a:t>       'N005-674185']</a:t>
            </a:r>
            <a:endParaRPr lang="en-US" dirty="0"/>
          </a:p>
        </p:txBody>
      </p:sp>
      <p:sp>
        <p:nvSpPr>
          <p:cNvPr id="4" name="Slide Number Placeholder 3"/>
          <p:cNvSpPr>
            <a:spLocks noGrp="1"/>
          </p:cNvSpPr>
          <p:nvPr>
            <p:ph type="sldNum" sz="quarter" idx="5"/>
          </p:nvPr>
        </p:nvSpPr>
        <p:spPr/>
        <p:txBody>
          <a:bodyPr/>
          <a:lstStyle/>
          <a:p>
            <a:fld id="{C8F74718-2ACB-47EA-9308-4A99C0E4EC8A}" type="slidenum">
              <a:rPr lang="en-US" smtClean="0"/>
              <a:t>3</a:t>
            </a:fld>
            <a:endParaRPr lang="en-US"/>
          </a:p>
        </p:txBody>
      </p:sp>
    </p:spTree>
    <p:extLst>
      <p:ext uri="{BB962C8B-B14F-4D97-AF65-F5344CB8AC3E}">
        <p14:creationId xmlns:p14="http://schemas.microsoft.com/office/powerpoint/2010/main" val="3858376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F74718-2ACB-47EA-9308-4A99C0E4EC8A}" type="slidenum">
              <a:rPr lang="en-US" smtClean="0"/>
              <a:t>4</a:t>
            </a:fld>
            <a:endParaRPr lang="en-US"/>
          </a:p>
        </p:txBody>
      </p:sp>
    </p:spTree>
    <p:extLst>
      <p:ext uri="{BB962C8B-B14F-4D97-AF65-F5344CB8AC3E}">
        <p14:creationId xmlns:p14="http://schemas.microsoft.com/office/powerpoint/2010/main" val="1626353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 this looks like trash</a:t>
            </a:r>
          </a:p>
          <a:p>
            <a:r>
              <a:rPr lang="en-US" dirty="0"/>
              <a:t>Loadings of regions onto these pcs don’t make a ton of sense either</a:t>
            </a:r>
          </a:p>
        </p:txBody>
      </p:sp>
      <p:sp>
        <p:nvSpPr>
          <p:cNvPr id="4" name="Slide Number Placeholder 3"/>
          <p:cNvSpPr>
            <a:spLocks noGrp="1"/>
          </p:cNvSpPr>
          <p:nvPr>
            <p:ph type="sldNum" sz="quarter" idx="5"/>
          </p:nvPr>
        </p:nvSpPr>
        <p:spPr/>
        <p:txBody>
          <a:bodyPr/>
          <a:lstStyle/>
          <a:p>
            <a:fld id="{C8F74718-2ACB-47EA-9308-4A99C0E4EC8A}" type="slidenum">
              <a:rPr lang="en-US" smtClean="0"/>
              <a:t>7</a:t>
            </a:fld>
            <a:endParaRPr lang="en-US"/>
          </a:p>
        </p:txBody>
      </p:sp>
    </p:spTree>
    <p:extLst>
      <p:ext uri="{BB962C8B-B14F-4D97-AF65-F5344CB8AC3E}">
        <p14:creationId xmlns:p14="http://schemas.microsoft.com/office/powerpoint/2010/main" val="4130699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Unthresholded</a:t>
            </a:r>
            <a:r>
              <a:rPr lang="en-US" dirty="0"/>
              <a:t>, this doesn’t look terrible at first glance</a:t>
            </a:r>
          </a:p>
          <a:p>
            <a:r>
              <a:rPr lang="en-US" dirty="0"/>
              <a:t>Maybe would be interested to sort the indices by my phenotypes and see if the structure is clearer?</a:t>
            </a:r>
          </a:p>
        </p:txBody>
      </p:sp>
      <p:sp>
        <p:nvSpPr>
          <p:cNvPr id="4" name="Slide Number Placeholder 3"/>
          <p:cNvSpPr>
            <a:spLocks noGrp="1"/>
          </p:cNvSpPr>
          <p:nvPr>
            <p:ph type="sldNum" sz="quarter" idx="5"/>
          </p:nvPr>
        </p:nvSpPr>
        <p:spPr/>
        <p:txBody>
          <a:bodyPr/>
          <a:lstStyle/>
          <a:p>
            <a:fld id="{C8F74718-2ACB-47EA-9308-4A99C0E4EC8A}" type="slidenum">
              <a:rPr lang="en-US" smtClean="0"/>
              <a:t>10</a:t>
            </a:fld>
            <a:endParaRPr lang="en-US"/>
          </a:p>
        </p:txBody>
      </p:sp>
    </p:spTree>
    <p:extLst>
      <p:ext uri="{BB962C8B-B14F-4D97-AF65-F5344CB8AC3E}">
        <p14:creationId xmlns:p14="http://schemas.microsoft.com/office/powerpoint/2010/main" val="2955727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to bottom, HY, </a:t>
            </a:r>
            <a:r>
              <a:rPr lang="en-US" dirty="0" err="1"/>
              <a:t>CTXsp</a:t>
            </a:r>
            <a:r>
              <a:rPr lang="en-US" dirty="0"/>
              <a:t>, CTX, CB, TH, MB</a:t>
            </a:r>
          </a:p>
        </p:txBody>
      </p:sp>
      <p:sp>
        <p:nvSpPr>
          <p:cNvPr id="4" name="Slide Number Placeholder 3"/>
          <p:cNvSpPr>
            <a:spLocks noGrp="1"/>
          </p:cNvSpPr>
          <p:nvPr>
            <p:ph type="sldNum" sz="quarter" idx="5"/>
          </p:nvPr>
        </p:nvSpPr>
        <p:spPr/>
        <p:txBody>
          <a:bodyPr/>
          <a:lstStyle/>
          <a:p>
            <a:fld id="{C8F74718-2ACB-47EA-9308-4A99C0E4EC8A}" type="slidenum">
              <a:rPr lang="en-US" smtClean="0"/>
              <a:t>14</a:t>
            </a:fld>
            <a:endParaRPr lang="en-US"/>
          </a:p>
        </p:txBody>
      </p:sp>
    </p:spTree>
    <p:extLst>
      <p:ext uri="{BB962C8B-B14F-4D97-AF65-F5344CB8AC3E}">
        <p14:creationId xmlns:p14="http://schemas.microsoft.com/office/powerpoint/2010/main" val="3727995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Log1p’d data, label on the color bar is wrong, should change that</a:t>
            </a:r>
          </a:p>
        </p:txBody>
      </p:sp>
      <p:sp>
        <p:nvSpPr>
          <p:cNvPr id="4" name="Slide Number Placeholder 3"/>
          <p:cNvSpPr>
            <a:spLocks noGrp="1"/>
          </p:cNvSpPr>
          <p:nvPr>
            <p:ph type="sldNum" sz="quarter" idx="5"/>
          </p:nvPr>
        </p:nvSpPr>
        <p:spPr/>
        <p:txBody>
          <a:bodyPr/>
          <a:lstStyle/>
          <a:p>
            <a:fld id="{C8F74718-2ACB-47EA-9308-4A99C0E4EC8A}" type="slidenum">
              <a:rPr lang="en-US" smtClean="0"/>
              <a:t>19</a:t>
            </a:fld>
            <a:endParaRPr lang="en-US"/>
          </a:p>
        </p:txBody>
      </p:sp>
    </p:spTree>
    <p:extLst>
      <p:ext uri="{BB962C8B-B14F-4D97-AF65-F5344CB8AC3E}">
        <p14:creationId xmlns:p14="http://schemas.microsoft.com/office/powerpoint/2010/main" val="21324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 images (colored by my phenotype assignments, not the colors I just showed</a:t>
            </a:r>
          </a:p>
        </p:txBody>
      </p:sp>
      <p:sp>
        <p:nvSpPr>
          <p:cNvPr id="4" name="Slide Number Placeholder 3"/>
          <p:cNvSpPr>
            <a:spLocks noGrp="1"/>
          </p:cNvSpPr>
          <p:nvPr>
            <p:ph type="sldNum" sz="quarter" idx="5"/>
          </p:nvPr>
        </p:nvSpPr>
        <p:spPr/>
        <p:txBody>
          <a:bodyPr/>
          <a:lstStyle/>
          <a:p>
            <a:fld id="{C8F74718-2ACB-47EA-9308-4A99C0E4EC8A}" type="slidenum">
              <a:rPr lang="en-US" smtClean="0"/>
              <a:t>21</a:t>
            </a:fld>
            <a:endParaRPr lang="en-US"/>
          </a:p>
        </p:txBody>
      </p:sp>
    </p:spTree>
    <p:extLst>
      <p:ext uri="{BB962C8B-B14F-4D97-AF65-F5344CB8AC3E}">
        <p14:creationId xmlns:p14="http://schemas.microsoft.com/office/powerpoint/2010/main" val="801417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Umap</a:t>
            </a:r>
            <a:r>
              <a:rPr lang="en-US" dirty="0"/>
              <a:t> done on just summed micron length in region groups</a:t>
            </a:r>
          </a:p>
        </p:txBody>
      </p:sp>
      <p:sp>
        <p:nvSpPr>
          <p:cNvPr id="4" name="Slide Number Placeholder 3"/>
          <p:cNvSpPr>
            <a:spLocks noGrp="1"/>
          </p:cNvSpPr>
          <p:nvPr>
            <p:ph type="sldNum" sz="quarter" idx="5"/>
          </p:nvPr>
        </p:nvSpPr>
        <p:spPr/>
        <p:txBody>
          <a:bodyPr/>
          <a:lstStyle/>
          <a:p>
            <a:fld id="{C8F74718-2ACB-47EA-9308-4A99C0E4EC8A}" type="slidenum">
              <a:rPr lang="en-US" smtClean="0"/>
              <a:t>22</a:t>
            </a:fld>
            <a:endParaRPr lang="en-US"/>
          </a:p>
        </p:txBody>
      </p:sp>
    </p:spTree>
    <p:extLst>
      <p:ext uri="{BB962C8B-B14F-4D97-AF65-F5344CB8AC3E}">
        <p14:creationId xmlns:p14="http://schemas.microsoft.com/office/powerpoint/2010/main" val="1622462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F74718-2ACB-47EA-9308-4A99C0E4EC8A}" type="slidenum">
              <a:rPr lang="en-US" smtClean="0"/>
              <a:t>26</a:t>
            </a:fld>
            <a:endParaRPr lang="en-US"/>
          </a:p>
        </p:txBody>
      </p:sp>
    </p:spTree>
    <p:extLst>
      <p:ext uri="{BB962C8B-B14F-4D97-AF65-F5344CB8AC3E}">
        <p14:creationId xmlns:p14="http://schemas.microsoft.com/office/powerpoint/2010/main" val="817519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better clustering method</a:t>
            </a:r>
          </a:p>
        </p:txBody>
      </p:sp>
      <p:sp>
        <p:nvSpPr>
          <p:cNvPr id="4" name="Slide Number Placeholder 3"/>
          <p:cNvSpPr>
            <a:spLocks noGrp="1"/>
          </p:cNvSpPr>
          <p:nvPr>
            <p:ph type="sldNum" sz="quarter" idx="5"/>
          </p:nvPr>
        </p:nvSpPr>
        <p:spPr/>
        <p:txBody>
          <a:bodyPr/>
          <a:lstStyle/>
          <a:p>
            <a:fld id="{C8F74718-2ACB-47EA-9308-4A99C0E4EC8A}" type="slidenum">
              <a:rPr lang="en-US" smtClean="0"/>
              <a:t>30</a:t>
            </a:fld>
            <a:endParaRPr lang="en-US"/>
          </a:p>
        </p:txBody>
      </p:sp>
    </p:spTree>
    <p:extLst>
      <p:ext uri="{BB962C8B-B14F-4D97-AF65-F5344CB8AC3E}">
        <p14:creationId xmlns:p14="http://schemas.microsoft.com/office/powerpoint/2010/main" val="2847884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F74718-2ACB-47EA-9308-4A99C0E4EC8A}" type="slidenum">
              <a:rPr lang="en-US" smtClean="0"/>
              <a:t>33</a:t>
            </a:fld>
            <a:endParaRPr lang="en-US"/>
          </a:p>
        </p:txBody>
      </p:sp>
    </p:spTree>
    <p:extLst>
      <p:ext uri="{BB962C8B-B14F-4D97-AF65-F5344CB8AC3E}">
        <p14:creationId xmlns:p14="http://schemas.microsoft.com/office/powerpoint/2010/main" val="3243358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42862-4F8B-7015-9DE0-A852CF0DDC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C32EEA-4836-908C-7F01-D8F1ADC463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12FC0A-84CA-94A5-0B25-14B17E6A82FF}"/>
              </a:ext>
            </a:extLst>
          </p:cNvPr>
          <p:cNvSpPr>
            <a:spLocks noGrp="1"/>
          </p:cNvSpPr>
          <p:nvPr>
            <p:ph type="dt" sz="half" idx="10"/>
          </p:nvPr>
        </p:nvSpPr>
        <p:spPr/>
        <p:txBody>
          <a:bodyPr/>
          <a:lstStyle/>
          <a:p>
            <a:fld id="{A7303056-8456-4D22-96D5-6705250B28CF}" type="datetimeFigureOut">
              <a:rPr lang="en-US" smtClean="0"/>
              <a:t>10/26/2026</a:t>
            </a:fld>
            <a:endParaRPr lang="en-US"/>
          </a:p>
        </p:txBody>
      </p:sp>
      <p:sp>
        <p:nvSpPr>
          <p:cNvPr id="5" name="Footer Placeholder 4">
            <a:extLst>
              <a:ext uri="{FF2B5EF4-FFF2-40B4-BE49-F238E27FC236}">
                <a16:creationId xmlns:a16="http://schemas.microsoft.com/office/drawing/2014/main" id="{5BFDB5A4-53EC-D6BA-133B-C6C953047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1AD5D6-820F-5F53-09B2-F88895033832}"/>
              </a:ext>
            </a:extLst>
          </p:cNvPr>
          <p:cNvSpPr>
            <a:spLocks noGrp="1"/>
          </p:cNvSpPr>
          <p:nvPr>
            <p:ph type="sldNum" sz="quarter" idx="12"/>
          </p:nvPr>
        </p:nvSpPr>
        <p:spPr/>
        <p:txBody>
          <a:bodyPr/>
          <a:lstStyle/>
          <a:p>
            <a:fld id="{BDD881D9-BC4E-4598-9552-65A7C6237287}" type="slidenum">
              <a:rPr lang="en-US" smtClean="0"/>
              <a:t>‹#›</a:t>
            </a:fld>
            <a:endParaRPr lang="en-US"/>
          </a:p>
        </p:txBody>
      </p:sp>
    </p:spTree>
    <p:extLst>
      <p:ext uri="{BB962C8B-B14F-4D97-AF65-F5344CB8AC3E}">
        <p14:creationId xmlns:p14="http://schemas.microsoft.com/office/powerpoint/2010/main" val="2702448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F332D-1065-4CEF-F1DB-AB3326965E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6B2D90-93EF-92B1-887E-83197257CD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954077-3A34-9639-D62F-42BFAA837F49}"/>
              </a:ext>
            </a:extLst>
          </p:cNvPr>
          <p:cNvSpPr>
            <a:spLocks noGrp="1"/>
          </p:cNvSpPr>
          <p:nvPr>
            <p:ph type="dt" sz="half" idx="10"/>
          </p:nvPr>
        </p:nvSpPr>
        <p:spPr/>
        <p:txBody>
          <a:bodyPr/>
          <a:lstStyle/>
          <a:p>
            <a:fld id="{A7303056-8456-4D22-96D5-6705250B28CF}" type="datetimeFigureOut">
              <a:rPr lang="en-US" smtClean="0"/>
              <a:t>10/26/2026</a:t>
            </a:fld>
            <a:endParaRPr lang="en-US"/>
          </a:p>
        </p:txBody>
      </p:sp>
      <p:sp>
        <p:nvSpPr>
          <p:cNvPr id="5" name="Footer Placeholder 4">
            <a:extLst>
              <a:ext uri="{FF2B5EF4-FFF2-40B4-BE49-F238E27FC236}">
                <a16:creationId xmlns:a16="http://schemas.microsoft.com/office/drawing/2014/main" id="{B79E3940-DC79-C9B5-D99F-62E2493239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DCF7B7-2DA4-F7DB-3DA5-CED1AB7C8F4E}"/>
              </a:ext>
            </a:extLst>
          </p:cNvPr>
          <p:cNvSpPr>
            <a:spLocks noGrp="1"/>
          </p:cNvSpPr>
          <p:nvPr>
            <p:ph type="sldNum" sz="quarter" idx="12"/>
          </p:nvPr>
        </p:nvSpPr>
        <p:spPr/>
        <p:txBody>
          <a:bodyPr/>
          <a:lstStyle/>
          <a:p>
            <a:fld id="{BDD881D9-BC4E-4598-9552-65A7C6237287}" type="slidenum">
              <a:rPr lang="en-US" smtClean="0"/>
              <a:t>‹#›</a:t>
            </a:fld>
            <a:endParaRPr lang="en-US"/>
          </a:p>
        </p:txBody>
      </p:sp>
    </p:spTree>
    <p:extLst>
      <p:ext uri="{BB962C8B-B14F-4D97-AF65-F5344CB8AC3E}">
        <p14:creationId xmlns:p14="http://schemas.microsoft.com/office/powerpoint/2010/main" val="3608684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3361F-D2A6-CEEF-6705-08FE2291A9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A63B1E-D4EE-5723-2232-9436097B11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D7567B-FCAB-2F44-BA7F-36305CCF04C6}"/>
              </a:ext>
            </a:extLst>
          </p:cNvPr>
          <p:cNvSpPr>
            <a:spLocks noGrp="1"/>
          </p:cNvSpPr>
          <p:nvPr>
            <p:ph type="dt" sz="half" idx="10"/>
          </p:nvPr>
        </p:nvSpPr>
        <p:spPr/>
        <p:txBody>
          <a:bodyPr/>
          <a:lstStyle/>
          <a:p>
            <a:fld id="{A7303056-8456-4D22-96D5-6705250B28CF}" type="datetimeFigureOut">
              <a:rPr lang="en-US" smtClean="0"/>
              <a:t>10/26/2026</a:t>
            </a:fld>
            <a:endParaRPr lang="en-US"/>
          </a:p>
        </p:txBody>
      </p:sp>
      <p:sp>
        <p:nvSpPr>
          <p:cNvPr id="5" name="Footer Placeholder 4">
            <a:extLst>
              <a:ext uri="{FF2B5EF4-FFF2-40B4-BE49-F238E27FC236}">
                <a16:creationId xmlns:a16="http://schemas.microsoft.com/office/drawing/2014/main" id="{EEE3DF05-5BA7-657C-7C3E-CBA104200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65C6EA-1151-4CFC-0DF5-79D3BC7514F0}"/>
              </a:ext>
            </a:extLst>
          </p:cNvPr>
          <p:cNvSpPr>
            <a:spLocks noGrp="1"/>
          </p:cNvSpPr>
          <p:nvPr>
            <p:ph type="sldNum" sz="quarter" idx="12"/>
          </p:nvPr>
        </p:nvSpPr>
        <p:spPr/>
        <p:txBody>
          <a:bodyPr/>
          <a:lstStyle/>
          <a:p>
            <a:fld id="{BDD881D9-BC4E-4598-9552-65A7C6237287}" type="slidenum">
              <a:rPr lang="en-US" smtClean="0"/>
              <a:t>‹#›</a:t>
            </a:fld>
            <a:endParaRPr lang="en-US"/>
          </a:p>
        </p:txBody>
      </p:sp>
    </p:spTree>
    <p:extLst>
      <p:ext uri="{BB962C8B-B14F-4D97-AF65-F5344CB8AC3E}">
        <p14:creationId xmlns:p14="http://schemas.microsoft.com/office/powerpoint/2010/main" val="1588406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AE0CE-872C-04B1-B5DA-0E1CCEBEA2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2959BE-4DFE-66CA-2DAC-53A4BE9416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59D823-CA7C-853C-8EB1-AE77A3D620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E2BCC6-148F-178B-2ED3-10E0823E840E}"/>
              </a:ext>
            </a:extLst>
          </p:cNvPr>
          <p:cNvSpPr>
            <a:spLocks noGrp="1"/>
          </p:cNvSpPr>
          <p:nvPr>
            <p:ph type="dt" sz="half" idx="10"/>
          </p:nvPr>
        </p:nvSpPr>
        <p:spPr/>
        <p:txBody>
          <a:bodyPr/>
          <a:lstStyle/>
          <a:p>
            <a:fld id="{A7303056-8456-4D22-96D5-6705250B28CF}" type="datetimeFigureOut">
              <a:rPr lang="en-US" smtClean="0"/>
              <a:t>10/26/2026</a:t>
            </a:fld>
            <a:endParaRPr lang="en-US"/>
          </a:p>
        </p:txBody>
      </p:sp>
      <p:sp>
        <p:nvSpPr>
          <p:cNvPr id="6" name="Footer Placeholder 5">
            <a:extLst>
              <a:ext uri="{FF2B5EF4-FFF2-40B4-BE49-F238E27FC236}">
                <a16:creationId xmlns:a16="http://schemas.microsoft.com/office/drawing/2014/main" id="{0558F25A-F10F-5B41-35EA-3DAF2B79FF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F86491-5C97-9833-BC2D-2C440EFC2A8C}"/>
              </a:ext>
            </a:extLst>
          </p:cNvPr>
          <p:cNvSpPr>
            <a:spLocks noGrp="1"/>
          </p:cNvSpPr>
          <p:nvPr>
            <p:ph type="sldNum" sz="quarter" idx="12"/>
          </p:nvPr>
        </p:nvSpPr>
        <p:spPr/>
        <p:txBody>
          <a:bodyPr/>
          <a:lstStyle/>
          <a:p>
            <a:fld id="{BDD881D9-BC4E-4598-9552-65A7C6237287}" type="slidenum">
              <a:rPr lang="en-US" smtClean="0"/>
              <a:t>‹#›</a:t>
            </a:fld>
            <a:endParaRPr lang="en-US"/>
          </a:p>
        </p:txBody>
      </p:sp>
    </p:spTree>
    <p:extLst>
      <p:ext uri="{BB962C8B-B14F-4D97-AF65-F5344CB8AC3E}">
        <p14:creationId xmlns:p14="http://schemas.microsoft.com/office/powerpoint/2010/main" val="2754072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ECAB-EE95-A763-B085-2C3B55D104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AEF865-CE8E-37BA-3A81-35B32BCFA0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A816BB-F085-B607-6916-F581D488E0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4E6965-D0E8-732E-EAA8-3540B0D6A6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D9A5AF-489A-F815-2B08-49FC651080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2BEF2C-58F3-31B6-8562-81D1D9086DF6}"/>
              </a:ext>
            </a:extLst>
          </p:cNvPr>
          <p:cNvSpPr>
            <a:spLocks noGrp="1"/>
          </p:cNvSpPr>
          <p:nvPr>
            <p:ph type="dt" sz="half" idx="10"/>
          </p:nvPr>
        </p:nvSpPr>
        <p:spPr/>
        <p:txBody>
          <a:bodyPr/>
          <a:lstStyle/>
          <a:p>
            <a:fld id="{A7303056-8456-4D22-96D5-6705250B28CF}" type="datetimeFigureOut">
              <a:rPr lang="en-US" smtClean="0"/>
              <a:t>10/26/2026</a:t>
            </a:fld>
            <a:endParaRPr lang="en-US"/>
          </a:p>
        </p:txBody>
      </p:sp>
      <p:sp>
        <p:nvSpPr>
          <p:cNvPr id="8" name="Footer Placeholder 7">
            <a:extLst>
              <a:ext uri="{FF2B5EF4-FFF2-40B4-BE49-F238E27FC236}">
                <a16:creationId xmlns:a16="http://schemas.microsoft.com/office/drawing/2014/main" id="{CBFF9350-74D8-2602-4B56-0042C08C71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1DD0AF-9E33-672C-75D9-69F1F9FF3E23}"/>
              </a:ext>
            </a:extLst>
          </p:cNvPr>
          <p:cNvSpPr>
            <a:spLocks noGrp="1"/>
          </p:cNvSpPr>
          <p:nvPr>
            <p:ph type="sldNum" sz="quarter" idx="12"/>
          </p:nvPr>
        </p:nvSpPr>
        <p:spPr/>
        <p:txBody>
          <a:bodyPr/>
          <a:lstStyle/>
          <a:p>
            <a:fld id="{BDD881D9-BC4E-4598-9552-65A7C6237287}" type="slidenum">
              <a:rPr lang="en-US" smtClean="0"/>
              <a:t>‹#›</a:t>
            </a:fld>
            <a:endParaRPr lang="en-US"/>
          </a:p>
        </p:txBody>
      </p:sp>
    </p:spTree>
    <p:extLst>
      <p:ext uri="{BB962C8B-B14F-4D97-AF65-F5344CB8AC3E}">
        <p14:creationId xmlns:p14="http://schemas.microsoft.com/office/powerpoint/2010/main" val="1705948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5FD37-8F99-0E15-4D15-762FD63FD7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8DAF12-4708-6241-7480-2D7B2601725B}"/>
              </a:ext>
            </a:extLst>
          </p:cNvPr>
          <p:cNvSpPr>
            <a:spLocks noGrp="1"/>
          </p:cNvSpPr>
          <p:nvPr>
            <p:ph type="dt" sz="half" idx="10"/>
          </p:nvPr>
        </p:nvSpPr>
        <p:spPr/>
        <p:txBody>
          <a:bodyPr/>
          <a:lstStyle/>
          <a:p>
            <a:fld id="{A7303056-8456-4D22-96D5-6705250B28CF}" type="datetimeFigureOut">
              <a:rPr lang="en-US" smtClean="0"/>
              <a:t>10/26/2026</a:t>
            </a:fld>
            <a:endParaRPr lang="en-US"/>
          </a:p>
        </p:txBody>
      </p:sp>
      <p:sp>
        <p:nvSpPr>
          <p:cNvPr id="4" name="Footer Placeholder 3">
            <a:extLst>
              <a:ext uri="{FF2B5EF4-FFF2-40B4-BE49-F238E27FC236}">
                <a16:creationId xmlns:a16="http://schemas.microsoft.com/office/drawing/2014/main" id="{F268B6B4-92D2-C7B7-9E38-70D1B5DE8F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DA9825-63E8-C20C-1284-B195359A9ABF}"/>
              </a:ext>
            </a:extLst>
          </p:cNvPr>
          <p:cNvSpPr>
            <a:spLocks noGrp="1"/>
          </p:cNvSpPr>
          <p:nvPr>
            <p:ph type="sldNum" sz="quarter" idx="12"/>
          </p:nvPr>
        </p:nvSpPr>
        <p:spPr/>
        <p:txBody>
          <a:bodyPr/>
          <a:lstStyle/>
          <a:p>
            <a:fld id="{BDD881D9-BC4E-4598-9552-65A7C6237287}" type="slidenum">
              <a:rPr lang="en-US" smtClean="0"/>
              <a:t>‹#›</a:t>
            </a:fld>
            <a:endParaRPr lang="en-US"/>
          </a:p>
        </p:txBody>
      </p:sp>
    </p:spTree>
    <p:extLst>
      <p:ext uri="{BB962C8B-B14F-4D97-AF65-F5344CB8AC3E}">
        <p14:creationId xmlns:p14="http://schemas.microsoft.com/office/powerpoint/2010/main" val="1591720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B005EA-2A19-338F-946C-7581C54E860B}"/>
              </a:ext>
            </a:extLst>
          </p:cNvPr>
          <p:cNvSpPr>
            <a:spLocks noGrp="1"/>
          </p:cNvSpPr>
          <p:nvPr>
            <p:ph type="dt" sz="half" idx="10"/>
          </p:nvPr>
        </p:nvSpPr>
        <p:spPr/>
        <p:txBody>
          <a:bodyPr/>
          <a:lstStyle/>
          <a:p>
            <a:fld id="{A7303056-8456-4D22-96D5-6705250B28CF}" type="datetimeFigureOut">
              <a:rPr lang="en-US" smtClean="0"/>
              <a:t>10/26/2026</a:t>
            </a:fld>
            <a:endParaRPr lang="en-US"/>
          </a:p>
        </p:txBody>
      </p:sp>
      <p:sp>
        <p:nvSpPr>
          <p:cNvPr id="3" name="Footer Placeholder 2">
            <a:extLst>
              <a:ext uri="{FF2B5EF4-FFF2-40B4-BE49-F238E27FC236}">
                <a16:creationId xmlns:a16="http://schemas.microsoft.com/office/drawing/2014/main" id="{5E5FC513-7DF7-B90F-4255-E942A9D240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0608D8-B2D8-8C63-1C65-87B5132925C6}"/>
              </a:ext>
            </a:extLst>
          </p:cNvPr>
          <p:cNvSpPr>
            <a:spLocks noGrp="1"/>
          </p:cNvSpPr>
          <p:nvPr>
            <p:ph type="sldNum" sz="quarter" idx="12"/>
          </p:nvPr>
        </p:nvSpPr>
        <p:spPr/>
        <p:txBody>
          <a:bodyPr/>
          <a:lstStyle/>
          <a:p>
            <a:fld id="{BDD881D9-BC4E-4598-9552-65A7C6237287}" type="slidenum">
              <a:rPr lang="en-US" smtClean="0"/>
              <a:t>‹#›</a:t>
            </a:fld>
            <a:endParaRPr lang="en-US"/>
          </a:p>
        </p:txBody>
      </p:sp>
    </p:spTree>
    <p:extLst>
      <p:ext uri="{BB962C8B-B14F-4D97-AF65-F5344CB8AC3E}">
        <p14:creationId xmlns:p14="http://schemas.microsoft.com/office/powerpoint/2010/main" val="1146392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F13D1-DEC8-7010-548A-3BC4D96126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04639A-3D68-1FAE-9F0C-0861AEC445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7D1710-87B6-28A4-69A4-66E3A79A6A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97B811-600A-25E3-4022-8E8CF6C5AFCC}"/>
              </a:ext>
            </a:extLst>
          </p:cNvPr>
          <p:cNvSpPr>
            <a:spLocks noGrp="1"/>
          </p:cNvSpPr>
          <p:nvPr>
            <p:ph type="dt" sz="half" idx="10"/>
          </p:nvPr>
        </p:nvSpPr>
        <p:spPr/>
        <p:txBody>
          <a:bodyPr/>
          <a:lstStyle/>
          <a:p>
            <a:fld id="{A7303056-8456-4D22-96D5-6705250B28CF}" type="datetimeFigureOut">
              <a:rPr lang="en-US" smtClean="0"/>
              <a:t>10/26/2026</a:t>
            </a:fld>
            <a:endParaRPr lang="en-US"/>
          </a:p>
        </p:txBody>
      </p:sp>
      <p:sp>
        <p:nvSpPr>
          <p:cNvPr id="6" name="Footer Placeholder 5">
            <a:extLst>
              <a:ext uri="{FF2B5EF4-FFF2-40B4-BE49-F238E27FC236}">
                <a16:creationId xmlns:a16="http://schemas.microsoft.com/office/drawing/2014/main" id="{D30895AB-8855-16EE-F071-B6A8470212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6A5724-F26D-947D-01CE-3C24E2E4406D}"/>
              </a:ext>
            </a:extLst>
          </p:cNvPr>
          <p:cNvSpPr>
            <a:spLocks noGrp="1"/>
          </p:cNvSpPr>
          <p:nvPr>
            <p:ph type="sldNum" sz="quarter" idx="12"/>
          </p:nvPr>
        </p:nvSpPr>
        <p:spPr/>
        <p:txBody>
          <a:bodyPr/>
          <a:lstStyle/>
          <a:p>
            <a:fld id="{BDD881D9-BC4E-4598-9552-65A7C6237287}" type="slidenum">
              <a:rPr lang="en-US" smtClean="0"/>
              <a:t>‹#›</a:t>
            </a:fld>
            <a:endParaRPr lang="en-US"/>
          </a:p>
        </p:txBody>
      </p:sp>
    </p:spTree>
    <p:extLst>
      <p:ext uri="{BB962C8B-B14F-4D97-AF65-F5344CB8AC3E}">
        <p14:creationId xmlns:p14="http://schemas.microsoft.com/office/powerpoint/2010/main" val="2930704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1938-1CA6-CBB5-BBC0-B100426254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1EF896-D4CD-D488-8E8E-BFBE062FF6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495D77-EB1C-E6DA-BB11-FB271EFD1B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6D6C1F-2B56-791F-23E3-6786C4679C28}"/>
              </a:ext>
            </a:extLst>
          </p:cNvPr>
          <p:cNvSpPr>
            <a:spLocks noGrp="1"/>
          </p:cNvSpPr>
          <p:nvPr>
            <p:ph type="dt" sz="half" idx="10"/>
          </p:nvPr>
        </p:nvSpPr>
        <p:spPr/>
        <p:txBody>
          <a:bodyPr/>
          <a:lstStyle/>
          <a:p>
            <a:fld id="{A7303056-8456-4D22-96D5-6705250B28CF}" type="datetimeFigureOut">
              <a:rPr lang="en-US" smtClean="0"/>
              <a:t>10/26/2026</a:t>
            </a:fld>
            <a:endParaRPr lang="en-US"/>
          </a:p>
        </p:txBody>
      </p:sp>
      <p:sp>
        <p:nvSpPr>
          <p:cNvPr id="6" name="Footer Placeholder 5">
            <a:extLst>
              <a:ext uri="{FF2B5EF4-FFF2-40B4-BE49-F238E27FC236}">
                <a16:creationId xmlns:a16="http://schemas.microsoft.com/office/drawing/2014/main" id="{5591DC35-9B54-CAF0-E1CD-9220C5815D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C11204-4790-FCEB-8850-78796FFBB1A6}"/>
              </a:ext>
            </a:extLst>
          </p:cNvPr>
          <p:cNvSpPr>
            <a:spLocks noGrp="1"/>
          </p:cNvSpPr>
          <p:nvPr>
            <p:ph type="sldNum" sz="quarter" idx="12"/>
          </p:nvPr>
        </p:nvSpPr>
        <p:spPr/>
        <p:txBody>
          <a:bodyPr/>
          <a:lstStyle/>
          <a:p>
            <a:fld id="{BDD881D9-BC4E-4598-9552-65A7C6237287}" type="slidenum">
              <a:rPr lang="en-US" smtClean="0"/>
              <a:t>‹#›</a:t>
            </a:fld>
            <a:endParaRPr lang="en-US"/>
          </a:p>
        </p:txBody>
      </p:sp>
    </p:spTree>
    <p:extLst>
      <p:ext uri="{BB962C8B-B14F-4D97-AF65-F5344CB8AC3E}">
        <p14:creationId xmlns:p14="http://schemas.microsoft.com/office/powerpoint/2010/main" val="1852374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13DAD-D6AE-7464-B2DD-5CBAE8F17A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990F0E-09EA-697A-F265-302552CD59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CE4455-6F17-9010-9680-FDD5F00D072E}"/>
              </a:ext>
            </a:extLst>
          </p:cNvPr>
          <p:cNvSpPr>
            <a:spLocks noGrp="1"/>
          </p:cNvSpPr>
          <p:nvPr>
            <p:ph type="dt" sz="half" idx="10"/>
          </p:nvPr>
        </p:nvSpPr>
        <p:spPr/>
        <p:txBody>
          <a:bodyPr/>
          <a:lstStyle/>
          <a:p>
            <a:fld id="{A7303056-8456-4D22-96D5-6705250B28CF}" type="datetimeFigureOut">
              <a:rPr lang="en-US" smtClean="0"/>
              <a:t>10/26/2026</a:t>
            </a:fld>
            <a:endParaRPr lang="en-US"/>
          </a:p>
        </p:txBody>
      </p:sp>
      <p:sp>
        <p:nvSpPr>
          <p:cNvPr id="5" name="Footer Placeholder 4">
            <a:extLst>
              <a:ext uri="{FF2B5EF4-FFF2-40B4-BE49-F238E27FC236}">
                <a16:creationId xmlns:a16="http://schemas.microsoft.com/office/drawing/2014/main" id="{38FF9291-E4A5-D775-1205-690F6573F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C83FE2-8234-7364-062A-66CB3528C419}"/>
              </a:ext>
            </a:extLst>
          </p:cNvPr>
          <p:cNvSpPr>
            <a:spLocks noGrp="1"/>
          </p:cNvSpPr>
          <p:nvPr>
            <p:ph type="sldNum" sz="quarter" idx="12"/>
          </p:nvPr>
        </p:nvSpPr>
        <p:spPr/>
        <p:txBody>
          <a:bodyPr/>
          <a:lstStyle/>
          <a:p>
            <a:fld id="{BDD881D9-BC4E-4598-9552-65A7C6237287}" type="slidenum">
              <a:rPr lang="en-US" smtClean="0"/>
              <a:t>‹#›</a:t>
            </a:fld>
            <a:endParaRPr lang="en-US"/>
          </a:p>
        </p:txBody>
      </p:sp>
    </p:spTree>
    <p:extLst>
      <p:ext uri="{BB962C8B-B14F-4D97-AF65-F5344CB8AC3E}">
        <p14:creationId xmlns:p14="http://schemas.microsoft.com/office/powerpoint/2010/main" val="4183534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4E8634-8D91-8025-7D8C-6BDD18E38A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40F1A2-9C12-1738-CDE3-94E0AF2FE6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2FC9D-B9FF-33CC-7C61-7560D2D98A9F}"/>
              </a:ext>
            </a:extLst>
          </p:cNvPr>
          <p:cNvSpPr>
            <a:spLocks noGrp="1"/>
          </p:cNvSpPr>
          <p:nvPr>
            <p:ph type="dt" sz="half" idx="10"/>
          </p:nvPr>
        </p:nvSpPr>
        <p:spPr/>
        <p:txBody>
          <a:bodyPr/>
          <a:lstStyle/>
          <a:p>
            <a:fld id="{A7303056-8456-4D22-96D5-6705250B28CF}" type="datetimeFigureOut">
              <a:rPr lang="en-US" smtClean="0"/>
              <a:t>10/26/2026</a:t>
            </a:fld>
            <a:endParaRPr lang="en-US"/>
          </a:p>
        </p:txBody>
      </p:sp>
      <p:sp>
        <p:nvSpPr>
          <p:cNvPr id="5" name="Footer Placeholder 4">
            <a:extLst>
              <a:ext uri="{FF2B5EF4-FFF2-40B4-BE49-F238E27FC236}">
                <a16:creationId xmlns:a16="http://schemas.microsoft.com/office/drawing/2014/main" id="{CF5B0AFB-2EB9-5944-D443-68773BBF2C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3DCA87-5BC0-9A2F-C97E-7EEBF8D0BF30}"/>
              </a:ext>
            </a:extLst>
          </p:cNvPr>
          <p:cNvSpPr>
            <a:spLocks noGrp="1"/>
          </p:cNvSpPr>
          <p:nvPr>
            <p:ph type="sldNum" sz="quarter" idx="12"/>
          </p:nvPr>
        </p:nvSpPr>
        <p:spPr/>
        <p:txBody>
          <a:bodyPr/>
          <a:lstStyle/>
          <a:p>
            <a:fld id="{BDD881D9-BC4E-4598-9552-65A7C6237287}" type="slidenum">
              <a:rPr lang="en-US" smtClean="0"/>
              <a:t>‹#›</a:t>
            </a:fld>
            <a:endParaRPr lang="en-US"/>
          </a:p>
        </p:txBody>
      </p:sp>
    </p:spTree>
    <p:extLst>
      <p:ext uri="{BB962C8B-B14F-4D97-AF65-F5344CB8AC3E}">
        <p14:creationId xmlns:p14="http://schemas.microsoft.com/office/powerpoint/2010/main" val="2609951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61D3FA-489C-CD4F-B485-13CA68B1B1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78E6AF-4A76-DC78-30A6-AF52840B48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956517-EABB-A61A-887B-661DE456A1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303056-8456-4D22-96D5-6705250B28CF}" type="datetimeFigureOut">
              <a:rPr lang="en-US" smtClean="0"/>
              <a:t>10/26/2026</a:t>
            </a:fld>
            <a:endParaRPr lang="en-US"/>
          </a:p>
        </p:txBody>
      </p:sp>
      <p:sp>
        <p:nvSpPr>
          <p:cNvPr id="5" name="Footer Placeholder 4">
            <a:extLst>
              <a:ext uri="{FF2B5EF4-FFF2-40B4-BE49-F238E27FC236}">
                <a16:creationId xmlns:a16="http://schemas.microsoft.com/office/drawing/2014/main" id="{674BDC8D-7966-0AD2-D47D-9D17FDB4E5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BC8059A-AEE4-43FE-5317-EFC7B785BF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D881D9-BC4E-4598-9552-65A7C6237287}" type="slidenum">
              <a:rPr lang="en-US" smtClean="0"/>
              <a:t>‹#›</a:t>
            </a:fld>
            <a:endParaRPr lang="en-US"/>
          </a:p>
        </p:txBody>
      </p:sp>
    </p:spTree>
    <p:extLst>
      <p:ext uri="{BB962C8B-B14F-4D97-AF65-F5344CB8AC3E}">
        <p14:creationId xmlns:p14="http://schemas.microsoft.com/office/powerpoint/2010/main" val="1130551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3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3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3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3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FA69BD-A3B0-D6E6-BC40-9A25F34BA976}"/>
              </a:ext>
            </a:extLst>
          </p:cNvPr>
          <p:cNvPicPr>
            <a:picLocks noChangeAspect="1"/>
          </p:cNvPicPr>
          <p:nvPr/>
        </p:nvPicPr>
        <p:blipFill>
          <a:blip r:embed="rId2"/>
          <a:stretch>
            <a:fillRect/>
          </a:stretch>
        </p:blipFill>
        <p:spPr>
          <a:xfrm>
            <a:off x="2147703" y="675125"/>
            <a:ext cx="7896594" cy="5853826"/>
          </a:xfrm>
          <a:prstGeom prst="rect">
            <a:avLst/>
          </a:prstGeom>
        </p:spPr>
      </p:pic>
      <p:sp>
        <p:nvSpPr>
          <p:cNvPr id="6" name="TextBox 5">
            <a:extLst>
              <a:ext uri="{FF2B5EF4-FFF2-40B4-BE49-F238E27FC236}">
                <a16:creationId xmlns:a16="http://schemas.microsoft.com/office/drawing/2014/main" id="{002B08B4-DE95-9FBB-AE70-5E618F0C4372}"/>
              </a:ext>
            </a:extLst>
          </p:cNvPr>
          <p:cNvSpPr txBox="1"/>
          <p:nvPr/>
        </p:nvSpPr>
        <p:spPr>
          <a:xfrm>
            <a:off x="1647825" y="3059668"/>
            <a:ext cx="809625" cy="369332"/>
          </a:xfrm>
          <a:prstGeom prst="rect">
            <a:avLst/>
          </a:prstGeom>
          <a:noFill/>
        </p:spPr>
        <p:txBody>
          <a:bodyPr wrap="square" rtlCol="0">
            <a:spAutoFit/>
          </a:bodyPr>
          <a:lstStyle/>
          <a:p>
            <a:r>
              <a:rPr lang="en-US" dirty="0"/>
              <a:t>cells</a:t>
            </a:r>
          </a:p>
        </p:txBody>
      </p:sp>
      <p:sp>
        <p:nvSpPr>
          <p:cNvPr id="8" name="TextBox 7">
            <a:extLst>
              <a:ext uri="{FF2B5EF4-FFF2-40B4-BE49-F238E27FC236}">
                <a16:creationId xmlns:a16="http://schemas.microsoft.com/office/drawing/2014/main" id="{6B1FEADC-672D-CF1B-0716-0DFCE12B1501}"/>
              </a:ext>
            </a:extLst>
          </p:cNvPr>
          <p:cNvSpPr txBox="1"/>
          <p:nvPr/>
        </p:nvSpPr>
        <p:spPr>
          <a:xfrm>
            <a:off x="5691187" y="6344285"/>
            <a:ext cx="809625" cy="369332"/>
          </a:xfrm>
          <a:prstGeom prst="rect">
            <a:avLst/>
          </a:prstGeom>
          <a:noFill/>
        </p:spPr>
        <p:txBody>
          <a:bodyPr wrap="square" rtlCol="0">
            <a:spAutoFit/>
          </a:bodyPr>
          <a:lstStyle/>
          <a:p>
            <a:r>
              <a:rPr lang="en-US" dirty="0"/>
              <a:t>cells</a:t>
            </a:r>
          </a:p>
        </p:txBody>
      </p:sp>
      <p:sp>
        <p:nvSpPr>
          <p:cNvPr id="10" name="TextBox 9">
            <a:extLst>
              <a:ext uri="{FF2B5EF4-FFF2-40B4-BE49-F238E27FC236}">
                <a16:creationId xmlns:a16="http://schemas.microsoft.com/office/drawing/2014/main" id="{C39DE8B8-4E26-D404-8690-8F97724C4072}"/>
              </a:ext>
            </a:extLst>
          </p:cNvPr>
          <p:cNvSpPr txBox="1"/>
          <p:nvPr/>
        </p:nvSpPr>
        <p:spPr>
          <a:xfrm>
            <a:off x="10044297" y="2909792"/>
            <a:ext cx="1528382" cy="646331"/>
          </a:xfrm>
          <a:prstGeom prst="rect">
            <a:avLst/>
          </a:prstGeom>
          <a:noFill/>
        </p:spPr>
        <p:txBody>
          <a:bodyPr wrap="square" rtlCol="0">
            <a:spAutoFit/>
          </a:bodyPr>
          <a:lstStyle/>
          <a:p>
            <a:r>
              <a:rPr lang="en-US" dirty="0"/>
              <a:t>Correlation coefficient</a:t>
            </a:r>
          </a:p>
        </p:txBody>
      </p:sp>
      <p:sp>
        <p:nvSpPr>
          <p:cNvPr id="11" name="TextBox 10">
            <a:extLst>
              <a:ext uri="{FF2B5EF4-FFF2-40B4-BE49-F238E27FC236}">
                <a16:creationId xmlns:a16="http://schemas.microsoft.com/office/drawing/2014/main" id="{517DAC89-4653-D970-A374-507C02941015}"/>
              </a:ext>
            </a:extLst>
          </p:cNvPr>
          <p:cNvSpPr txBox="1"/>
          <p:nvPr/>
        </p:nvSpPr>
        <p:spPr>
          <a:xfrm>
            <a:off x="3666744" y="173736"/>
            <a:ext cx="4764024" cy="646331"/>
          </a:xfrm>
          <a:prstGeom prst="rect">
            <a:avLst/>
          </a:prstGeom>
          <a:noFill/>
        </p:spPr>
        <p:txBody>
          <a:bodyPr wrap="square" rtlCol="0">
            <a:spAutoFit/>
          </a:bodyPr>
          <a:lstStyle/>
          <a:p>
            <a:r>
              <a:rPr lang="en-US" dirty="0"/>
              <a:t>Cells clustered by endpoints/um^3 in each region</a:t>
            </a:r>
          </a:p>
        </p:txBody>
      </p:sp>
    </p:spTree>
    <p:extLst>
      <p:ext uri="{BB962C8B-B14F-4D97-AF65-F5344CB8AC3E}">
        <p14:creationId xmlns:p14="http://schemas.microsoft.com/office/powerpoint/2010/main" val="2006834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CDBDD-3012-EF01-8EE6-A0318F7BC06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4AC2DD-A29E-BCED-8B3B-A7A0B2059757}"/>
              </a:ext>
            </a:extLst>
          </p:cNvPr>
          <p:cNvPicPr>
            <a:picLocks noChangeAspect="1"/>
          </p:cNvPicPr>
          <p:nvPr/>
        </p:nvPicPr>
        <p:blipFill>
          <a:blip r:embed="rId2"/>
          <a:stretch>
            <a:fillRect/>
          </a:stretch>
        </p:blipFill>
        <p:spPr>
          <a:xfrm>
            <a:off x="2147703" y="675125"/>
            <a:ext cx="7896594" cy="5853826"/>
          </a:xfrm>
          <a:prstGeom prst="rect">
            <a:avLst/>
          </a:prstGeom>
        </p:spPr>
      </p:pic>
      <p:sp>
        <p:nvSpPr>
          <p:cNvPr id="6" name="TextBox 5">
            <a:extLst>
              <a:ext uri="{FF2B5EF4-FFF2-40B4-BE49-F238E27FC236}">
                <a16:creationId xmlns:a16="http://schemas.microsoft.com/office/drawing/2014/main" id="{B8B9F5ED-896E-58CF-24AB-493473462BD6}"/>
              </a:ext>
            </a:extLst>
          </p:cNvPr>
          <p:cNvSpPr txBox="1"/>
          <p:nvPr/>
        </p:nvSpPr>
        <p:spPr>
          <a:xfrm>
            <a:off x="1647825" y="3059668"/>
            <a:ext cx="809625" cy="369332"/>
          </a:xfrm>
          <a:prstGeom prst="rect">
            <a:avLst/>
          </a:prstGeom>
          <a:noFill/>
        </p:spPr>
        <p:txBody>
          <a:bodyPr wrap="square" rtlCol="0">
            <a:spAutoFit/>
          </a:bodyPr>
          <a:lstStyle/>
          <a:p>
            <a:r>
              <a:rPr lang="en-US" dirty="0"/>
              <a:t>cells</a:t>
            </a:r>
          </a:p>
        </p:txBody>
      </p:sp>
      <p:sp>
        <p:nvSpPr>
          <p:cNvPr id="8" name="TextBox 7">
            <a:extLst>
              <a:ext uri="{FF2B5EF4-FFF2-40B4-BE49-F238E27FC236}">
                <a16:creationId xmlns:a16="http://schemas.microsoft.com/office/drawing/2014/main" id="{69CC6E64-64F9-8907-0579-F89029DFC905}"/>
              </a:ext>
            </a:extLst>
          </p:cNvPr>
          <p:cNvSpPr txBox="1"/>
          <p:nvPr/>
        </p:nvSpPr>
        <p:spPr>
          <a:xfrm>
            <a:off x="5691187" y="6344285"/>
            <a:ext cx="809625" cy="369332"/>
          </a:xfrm>
          <a:prstGeom prst="rect">
            <a:avLst/>
          </a:prstGeom>
          <a:noFill/>
        </p:spPr>
        <p:txBody>
          <a:bodyPr wrap="square" rtlCol="0">
            <a:spAutoFit/>
          </a:bodyPr>
          <a:lstStyle/>
          <a:p>
            <a:r>
              <a:rPr lang="en-US" dirty="0"/>
              <a:t>cells</a:t>
            </a:r>
          </a:p>
        </p:txBody>
      </p:sp>
      <p:sp>
        <p:nvSpPr>
          <p:cNvPr id="10" name="TextBox 9">
            <a:extLst>
              <a:ext uri="{FF2B5EF4-FFF2-40B4-BE49-F238E27FC236}">
                <a16:creationId xmlns:a16="http://schemas.microsoft.com/office/drawing/2014/main" id="{06BB1525-A48D-67EE-C612-15EFC484F5FD}"/>
              </a:ext>
            </a:extLst>
          </p:cNvPr>
          <p:cNvSpPr txBox="1"/>
          <p:nvPr/>
        </p:nvSpPr>
        <p:spPr>
          <a:xfrm>
            <a:off x="10044297" y="2909792"/>
            <a:ext cx="1528382" cy="646331"/>
          </a:xfrm>
          <a:prstGeom prst="rect">
            <a:avLst/>
          </a:prstGeom>
          <a:noFill/>
        </p:spPr>
        <p:txBody>
          <a:bodyPr wrap="square" rtlCol="0">
            <a:spAutoFit/>
          </a:bodyPr>
          <a:lstStyle/>
          <a:p>
            <a:r>
              <a:rPr lang="en-US" dirty="0"/>
              <a:t>Correlation coefficient</a:t>
            </a:r>
          </a:p>
        </p:txBody>
      </p:sp>
      <p:sp>
        <p:nvSpPr>
          <p:cNvPr id="11" name="TextBox 10">
            <a:extLst>
              <a:ext uri="{FF2B5EF4-FFF2-40B4-BE49-F238E27FC236}">
                <a16:creationId xmlns:a16="http://schemas.microsoft.com/office/drawing/2014/main" id="{E61DDBA0-6240-2802-2BB6-E840EF632EBC}"/>
              </a:ext>
            </a:extLst>
          </p:cNvPr>
          <p:cNvSpPr txBox="1"/>
          <p:nvPr/>
        </p:nvSpPr>
        <p:spPr>
          <a:xfrm>
            <a:off x="3666744" y="173736"/>
            <a:ext cx="4764024" cy="646331"/>
          </a:xfrm>
          <a:prstGeom prst="rect">
            <a:avLst/>
          </a:prstGeom>
          <a:noFill/>
        </p:spPr>
        <p:txBody>
          <a:bodyPr wrap="square" rtlCol="0">
            <a:spAutoFit/>
          </a:bodyPr>
          <a:lstStyle/>
          <a:p>
            <a:r>
              <a:rPr lang="en-US" dirty="0"/>
              <a:t>Cells clustered by endpoints/um^3 in each region</a:t>
            </a:r>
          </a:p>
        </p:txBody>
      </p:sp>
      <p:cxnSp>
        <p:nvCxnSpPr>
          <p:cNvPr id="3" name="Straight Arrow Connector 2">
            <a:extLst>
              <a:ext uri="{FF2B5EF4-FFF2-40B4-BE49-F238E27FC236}">
                <a16:creationId xmlns:a16="http://schemas.microsoft.com/office/drawing/2014/main" id="{98127DD6-9ABB-4422-F4D8-4E8D0F475AE0}"/>
              </a:ext>
            </a:extLst>
          </p:cNvPr>
          <p:cNvCxnSpPr/>
          <p:nvPr/>
        </p:nvCxnSpPr>
        <p:spPr>
          <a:xfrm flipV="1">
            <a:off x="1216152" y="1472184"/>
            <a:ext cx="2157984" cy="301752"/>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4" name="TextBox 3">
            <a:extLst>
              <a:ext uri="{FF2B5EF4-FFF2-40B4-BE49-F238E27FC236}">
                <a16:creationId xmlns:a16="http://schemas.microsoft.com/office/drawing/2014/main" id="{F712A622-DC75-A4E2-6BC4-409DB11732C7}"/>
              </a:ext>
            </a:extLst>
          </p:cNvPr>
          <p:cNvSpPr txBox="1"/>
          <p:nvPr/>
        </p:nvSpPr>
        <p:spPr>
          <a:xfrm>
            <a:off x="297564" y="1589270"/>
            <a:ext cx="1600200" cy="369332"/>
          </a:xfrm>
          <a:prstGeom prst="rect">
            <a:avLst/>
          </a:prstGeom>
          <a:noFill/>
        </p:spPr>
        <p:txBody>
          <a:bodyPr wrap="square" rtlCol="0">
            <a:spAutoFit/>
          </a:bodyPr>
          <a:lstStyle/>
          <a:p>
            <a:r>
              <a:rPr lang="en-US" dirty="0" err="1"/>
              <a:t>mossys</a:t>
            </a:r>
            <a:endParaRPr lang="en-US" dirty="0"/>
          </a:p>
        </p:txBody>
      </p:sp>
    </p:spTree>
    <p:extLst>
      <p:ext uri="{BB962C8B-B14F-4D97-AF65-F5344CB8AC3E}">
        <p14:creationId xmlns:p14="http://schemas.microsoft.com/office/powerpoint/2010/main" val="1544142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7580B-6AE4-3804-9C22-FEDD6AFA91F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FA6C670-A2AD-C0AF-9012-E4678E02D73B}"/>
              </a:ext>
            </a:extLst>
          </p:cNvPr>
          <p:cNvPicPr>
            <a:picLocks noChangeAspect="1"/>
          </p:cNvPicPr>
          <p:nvPr/>
        </p:nvPicPr>
        <p:blipFill>
          <a:blip r:embed="rId3"/>
          <a:stretch>
            <a:fillRect/>
          </a:stretch>
        </p:blipFill>
        <p:spPr>
          <a:xfrm>
            <a:off x="2147703" y="675125"/>
            <a:ext cx="7896594" cy="5853826"/>
          </a:xfrm>
          <a:prstGeom prst="rect">
            <a:avLst/>
          </a:prstGeom>
        </p:spPr>
      </p:pic>
      <p:sp>
        <p:nvSpPr>
          <p:cNvPr id="6" name="TextBox 5">
            <a:extLst>
              <a:ext uri="{FF2B5EF4-FFF2-40B4-BE49-F238E27FC236}">
                <a16:creationId xmlns:a16="http://schemas.microsoft.com/office/drawing/2014/main" id="{23B4FC36-8915-0666-1224-971DD880514A}"/>
              </a:ext>
            </a:extLst>
          </p:cNvPr>
          <p:cNvSpPr txBox="1"/>
          <p:nvPr/>
        </p:nvSpPr>
        <p:spPr>
          <a:xfrm>
            <a:off x="1647825" y="3059668"/>
            <a:ext cx="809625" cy="369332"/>
          </a:xfrm>
          <a:prstGeom prst="rect">
            <a:avLst/>
          </a:prstGeom>
          <a:noFill/>
        </p:spPr>
        <p:txBody>
          <a:bodyPr wrap="square" rtlCol="0">
            <a:spAutoFit/>
          </a:bodyPr>
          <a:lstStyle/>
          <a:p>
            <a:r>
              <a:rPr lang="en-US" dirty="0"/>
              <a:t>cells</a:t>
            </a:r>
          </a:p>
        </p:txBody>
      </p:sp>
      <p:sp>
        <p:nvSpPr>
          <p:cNvPr id="8" name="TextBox 7">
            <a:extLst>
              <a:ext uri="{FF2B5EF4-FFF2-40B4-BE49-F238E27FC236}">
                <a16:creationId xmlns:a16="http://schemas.microsoft.com/office/drawing/2014/main" id="{06B516C3-D651-653B-2F0E-2EE0A8859E55}"/>
              </a:ext>
            </a:extLst>
          </p:cNvPr>
          <p:cNvSpPr txBox="1"/>
          <p:nvPr/>
        </p:nvSpPr>
        <p:spPr>
          <a:xfrm>
            <a:off x="5691187" y="6344285"/>
            <a:ext cx="809625" cy="369332"/>
          </a:xfrm>
          <a:prstGeom prst="rect">
            <a:avLst/>
          </a:prstGeom>
          <a:noFill/>
        </p:spPr>
        <p:txBody>
          <a:bodyPr wrap="square" rtlCol="0">
            <a:spAutoFit/>
          </a:bodyPr>
          <a:lstStyle/>
          <a:p>
            <a:r>
              <a:rPr lang="en-US" dirty="0"/>
              <a:t>cells</a:t>
            </a:r>
          </a:p>
        </p:txBody>
      </p:sp>
      <p:sp>
        <p:nvSpPr>
          <p:cNvPr id="10" name="TextBox 9">
            <a:extLst>
              <a:ext uri="{FF2B5EF4-FFF2-40B4-BE49-F238E27FC236}">
                <a16:creationId xmlns:a16="http://schemas.microsoft.com/office/drawing/2014/main" id="{80CD3CB7-0300-303C-03F6-4111405C7367}"/>
              </a:ext>
            </a:extLst>
          </p:cNvPr>
          <p:cNvSpPr txBox="1"/>
          <p:nvPr/>
        </p:nvSpPr>
        <p:spPr>
          <a:xfrm>
            <a:off x="10044297" y="2909792"/>
            <a:ext cx="1528382" cy="646331"/>
          </a:xfrm>
          <a:prstGeom prst="rect">
            <a:avLst/>
          </a:prstGeom>
          <a:noFill/>
        </p:spPr>
        <p:txBody>
          <a:bodyPr wrap="square" rtlCol="0">
            <a:spAutoFit/>
          </a:bodyPr>
          <a:lstStyle/>
          <a:p>
            <a:r>
              <a:rPr lang="en-US" dirty="0"/>
              <a:t>Correlation coefficient</a:t>
            </a:r>
          </a:p>
        </p:txBody>
      </p:sp>
      <p:sp>
        <p:nvSpPr>
          <p:cNvPr id="11" name="TextBox 10">
            <a:extLst>
              <a:ext uri="{FF2B5EF4-FFF2-40B4-BE49-F238E27FC236}">
                <a16:creationId xmlns:a16="http://schemas.microsoft.com/office/drawing/2014/main" id="{6BD6EB29-09D2-1CB0-5423-B37C1FDA6886}"/>
              </a:ext>
            </a:extLst>
          </p:cNvPr>
          <p:cNvSpPr txBox="1"/>
          <p:nvPr/>
        </p:nvSpPr>
        <p:spPr>
          <a:xfrm>
            <a:off x="3666744" y="173736"/>
            <a:ext cx="4764024" cy="646331"/>
          </a:xfrm>
          <a:prstGeom prst="rect">
            <a:avLst/>
          </a:prstGeom>
          <a:noFill/>
        </p:spPr>
        <p:txBody>
          <a:bodyPr wrap="square" rtlCol="0">
            <a:spAutoFit/>
          </a:bodyPr>
          <a:lstStyle/>
          <a:p>
            <a:r>
              <a:rPr lang="en-US" dirty="0"/>
              <a:t>Cells clustered by endpoints/um^3 in each region</a:t>
            </a:r>
          </a:p>
        </p:txBody>
      </p:sp>
      <p:sp>
        <p:nvSpPr>
          <p:cNvPr id="4" name="TextBox 3">
            <a:extLst>
              <a:ext uri="{FF2B5EF4-FFF2-40B4-BE49-F238E27FC236}">
                <a16:creationId xmlns:a16="http://schemas.microsoft.com/office/drawing/2014/main" id="{5F05D305-8B65-DBDE-846E-3C7FC3CBC947}"/>
              </a:ext>
            </a:extLst>
          </p:cNvPr>
          <p:cNvSpPr txBox="1"/>
          <p:nvPr/>
        </p:nvSpPr>
        <p:spPr>
          <a:xfrm>
            <a:off x="297564" y="1493365"/>
            <a:ext cx="1600200" cy="646331"/>
          </a:xfrm>
          <a:prstGeom prst="rect">
            <a:avLst/>
          </a:prstGeom>
          <a:noFill/>
        </p:spPr>
        <p:txBody>
          <a:bodyPr wrap="square" rtlCol="0">
            <a:spAutoFit/>
          </a:bodyPr>
          <a:lstStyle/>
          <a:p>
            <a:r>
              <a:rPr lang="en-US" dirty="0" err="1"/>
              <a:t>PeriV</a:t>
            </a:r>
            <a:r>
              <a:rPr lang="en-US" dirty="0"/>
              <a:t>/V projections?</a:t>
            </a:r>
          </a:p>
        </p:txBody>
      </p:sp>
      <p:cxnSp>
        <p:nvCxnSpPr>
          <p:cNvPr id="9" name="Straight Arrow Connector 8">
            <a:extLst>
              <a:ext uri="{FF2B5EF4-FFF2-40B4-BE49-F238E27FC236}">
                <a16:creationId xmlns:a16="http://schemas.microsoft.com/office/drawing/2014/main" id="{EF1FC4F2-1FF4-C4FD-77A5-65BC81E93570}"/>
              </a:ext>
            </a:extLst>
          </p:cNvPr>
          <p:cNvCxnSpPr/>
          <p:nvPr/>
        </p:nvCxnSpPr>
        <p:spPr>
          <a:xfrm>
            <a:off x="1572768" y="1746504"/>
            <a:ext cx="2779776" cy="393192"/>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877769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471C0-BFA9-A00A-25E8-131DC816B59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5A076C0-537E-05C0-C17E-86595C1F91A2}"/>
              </a:ext>
            </a:extLst>
          </p:cNvPr>
          <p:cNvSpPr txBox="1"/>
          <p:nvPr/>
        </p:nvSpPr>
        <p:spPr>
          <a:xfrm>
            <a:off x="1647825" y="3059668"/>
            <a:ext cx="809625" cy="369332"/>
          </a:xfrm>
          <a:prstGeom prst="rect">
            <a:avLst/>
          </a:prstGeom>
          <a:noFill/>
        </p:spPr>
        <p:txBody>
          <a:bodyPr wrap="square" rtlCol="0">
            <a:spAutoFit/>
          </a:bodyPr>
          <a:lstStyle/>
          <a:p>
            <a:r>
              <a:rPr lang="en-US" dirty="0"/>
              <a:t>cells</a:t>
            </a:r>
          </a:p>
        </p:txBody>
      </p:sp>
      <p:sp>
        <p:nvSpPr>
          <p:cNvPr id="8" name="TextBox 7">
            <a:extLst>
              <a:ext uri="{FF2B5EF4-FFF2-40B4-BE49-F238E27FC236}">
                <a16:creationId xmlns:a16="http://schemas.microsoft.com/office/drawing/2014/main" id="{300BB571-5CC9-AF42-8E81-CA8640B274A3}"/>
              </a:ext>
            </a:extLst>
          </p:cNvPr>
          <p:cNvSpPr txBox="1"/>
          <p:nvPr/>
        </p:nvSpPr>
        <p:spPr>
          <a:xfrm>
            <a:off x="5691187" y="6344285"/>
            <a:ext cx="809625" cy="369332"/>
          </a:xfrm>
          <a:prstGeom prst="rect">
            <a:avLst/>
          </a:prstGeom>
          <a:noFill/>
        </p:spPr>
        <p:txBody>
          <a:bodyPr wrap="square" rtlCol="0">
            <a:spAutoFit/>
          </a:bodyPr>
          <a:lstStyle/>
          <a:p>
            <a:r>
              <a:rPr lang="en-US" dirty="0"/>
              <a:t>cells</a:t>
            </a:r>
          </a:p>
        </p:txBody>
      </p:sp>
      <p:sp>
        <p:nvSpPr>
          <p:cNvPr id="10" name="TextBox 9">
            <a:extLst>
              <a:ext uri="{FF2B5EF4-FFF2-40B4-BE49-F238E27FC236}">
                <a16:creationId xmlns:a16="http://schemas.microsoft.com/office/drawing/2014/main" id="{C8D33C1E-73BA-5771-D0F7-A44D5A19A4FD}"/>
              </a:ext>
            </a:extLst>
          </p:cNvPr>
          <p:cNvSpPr txBox="1"/>
          <p:nvPr/>
        </p:nvSpPr>
        <p:spPr>
          <a:xfrm>
            <a:off x="10044297" y="2909792"/>
            <a:ext cx="1528382" cy="646331"/>
          </a:xfrm>
          <a:prstGeom prst="rect">
            <a:avLst/>
          </a:prstGeom>
          <a:noFill/>
        </p:spPr>
        <p:txBody>
          <a:bodyPr wrap="square" rtlCol="0">
            <a:spAutoFit/>
          </a:bodyPr>
          <a:lstStyle/>
          <a:p>
            <a:r>
              <a:rPr lang="en-US" dirty="0"/>
              <a:t>Correlation coefficient</a:t>
            </a:r>
          </a:p>
        </p:txBody>
      </p:sp>
      <p:sp>
        <p:nvSpPr>
          <p:cNvPr id="11" name="TextBox 10">
            <a:extLst>
              <a:ext uri="{FF2B5EF4-FFF2-40B4-BE49-F238E27FC236}">
                <a16:creationId xmlns:a16="http://schemas.microsoft.com/office/drawing/2014/main" id="{14DE7ED4-6CC0-F8C3-0E7C-1B00E5395DB1}"/>
              </a:ext>
            </a:extLst>
          </p:cNvPr>
          <p:cNvSpPr txBox="1"/>
          <p:nvPr/>
        </p:nvSpPr>
        <p:spPr>
          <a:xfrm>
            <a:off x="3666744" y="173736"/>
            <a:ext cx="4764024" cy="369332"/>
          </a:xfrm>
          <a:prstGeom prst="rect">
            <a:avLst/>
          </a:prstGeom>
          <a:noFill/>
        </p:spPr>
        <p:txBody>
          <a:bodyPr wrap="square" rtlCol="0">
            <a:spAutoFit/>
          </a:bodyPr>
          <a:lstStyle/>
          <a:p>
            <a:r>
              <a:rPr lang="en-US" dirty="0"/>
              <a:t>Cells clustered by length/mm^3 in each region</a:t>
            </a:r>
          </a:p>
        </p:txBody>
      </p:sp>
      <p:pic>
        <p:nvPicPr>
          <p:cNvPr id="3" name="Picture 2">
            <a:extLst>
              <a:ext uri="{FF2B5EF4-FFF2-40B4-BE49-F238E27FC236}">
                <a16:creationId xmlns:a16="http://schemas.microsoft.com/office/drawing/2014/main" id="{E13136ED-5DA2-AEAF-6869-C70C5E598B04}"/>
              </a:ext>
            </a:extLst>
          </p:cNvPr>
          <p:cNvPicPr>
            <a:picLocks noChangeAspect="1"/>
          </p:cNvPicPr>
          <p:nvPr/>
        </p:nvPicPr>
        <p:blipFill>
          <a:blip r:embed="rId3"/>
          <a:stretch>
            <a:fillRect/>
          </a:stretch>
        </p:blipFill>
        <p:spPr>
          <a:xfrm>
            <a:off x="2457450" y="661917"/>
            <a:ext cx="7665304" cy="5682368"/>
          </a:xfrm>
          <a:prstGeom prst="rect">
            <a:avLst/>
          </a:prstGeom>
        </p:spPr>
      </p:pic>
      <p:sp>
        <p:nvSpPr>
          <p:cNvPr id="2" name="TextBox 1">
            <a:extLst>
              <a:ext uri="{FF2B5EF4-FFF2-40B4-BE49-F238E27FC236}">
                <a16:creationId xmlns:a16="http://schemas.microsoft.com/office/drawing/2014/main" id="{BC2477AD-3ADE-53DE-D20C-98ACBAC52150}"/>
              </a:ext>
            </a:extLst>
          </p:cNvPr>
          <p:cNvSpPr txBox="1"/>
          <p:nvPr/>
        </p:nvSpPr>
        <p:spPr>
          <a:xfrm>
            <a:off x="0" y="1729409"/>
            <a:ext cx="1470991" cy="2862322"/>
          </a:xfrm>
          <a:prstGeom prst="rect">
            <a:avLst/>
          </a:prstGeom>
          <a:noFill/>
        </p:spPr>
        <p:txBody>
          <a:bodyPr wrap="square" rtlCol="0">
            <a:spAutoFit/>
          </a:bodyPr>
          <a:lstStyle/>
          <a:p>
            <a:r>
              <a:rPr lang="en-US" dirty="0"/>
              <a:t>Mossy fibers clear</a:t>
            </a:r>
          </a:p>
          <a:p>
            <a:endParaRPr lang="en-US" dirty="0"/>
          </a:p>
          <a:p>
            <a:r>
              <a:rPr lang="en-US" dirty="0"/>
              <a:t>Strong trigeminal projections cluster</a:t>
            </a:r>
          </a:p>
          <a:p>
            <a:endParaRPr lang="en-US" dirty="0"/>
          </a:p>
          <a:p>
            <a:r>
              <a:rPr lang="en-US" dirty="0"/>
              <a:t>Little other structure</a:t>
            </a:r>
          </a:p>
        </p:txBody>
      </p:sp>
    </p:spTree>
    <p:extLst>
      <p:ext uri="{BB962C8B-B14F-4D97-AF65-F5344CB8AC3E}">
        <p14:creationId xmlns:p14="http://schemas.microsoft.com/office/powerpoint/2010/main" val="1852159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3F197F6-057E-D61F-75C8-B5469C4DFD5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0963" t="44822" r="37330" b="-200"/>
          <a:stretch>
            <a:fillRect/>
          </a:stretch>
        </p:blipFill>
        <p:spPr>
          <a:xfrm>
            <a:off x="3648635" y="365125"/>
            <a:ext cx="4894729" cy="6411810"/>
          </a:xfrm>
          <a:prstGeom prst="rect">
            <a:avLst/>
          </a:prstGeom>
        </p:spPr>
      </p:pic>
      <p:sp>
        <p:nvSpPr>
          <p:cNvPr id="6" name="TextBox 5">
            <a:extLst>
              <a:ext uri="{FF2B5EF4-FFF2-40B4-BE49-F238E27FC236}">
                <a16:creationId xmlns:a16="http://schemas.microsoft.com/office/drawing/2014/main" id="{07FAAC15-4E8F-A8CA-373B-CB1D24230FEB}"/>
              </a:ext>
            </a:extLst>
          </p:cNvPr>
          <p:cNvSpPr txBox="1"/>
          <p:nvPr/>
        </p:nvSpPr>
        <p:spPr>
          <a:xfrm>
            <a:off x="376519" y="1818042"/>
            <a:ext cx="2936837" cy="2031325"/>
          </a:xfrm>
          <a:prstGeom prst="rect">
            <a:avLst/>
          </a:prstGeom>
          <a:noFill/>
        </p:spPr>
        <p:txBody>
          <a:bodyPr wrap="square" rtlCol="0">
            <a:spAutoFit/>
          </a:bodyPr>
          <a:lstStyle/>
          <a:p>
            <a:r>
              <a:rPr lang="en-US" dirty="0"/>
              <a:t>This is that top left non mossy cluster, its all cells with lots of axon, projections to trigeminal motor areas, but seem to me to be two separate clusters in actuality</a:t>
            </a:r>
          </a:p>
        </p:txBody>
      </p:sp>
    </p:spTree>
    <p:extLst>
      <p:ext uri="{BB962C8B-B14F-4D97-AF65-F5344CB8AC3E}">
        <p14:creationId xmlns:p14="http://schemas.microsoft.com/office/powerpoint/2010/main" val="1290143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A7BFC-C217-BBEF-627D-80E3DBA5675F}"/>
              </a:ext>
            </a:extLst>
          </p:cNvPr>
          <p:cNvSpPr>
            <a:spLocks noGrp="1"/>
          </p:cNvSpPr>
          <p:nvPr>
            <p:ph type="title"/>
          </p:nvPr>
        </p:nvSpPr>
        <p:spPr/>
        <p:txBody>
          <a:bodyPr/>
          <a:lstStyle/>
          <a:p>
            <a:r>
              <a:rPr lang="en-US" dirty="0"/>
              <a:t>PCA on this same data, plotting explained variance by component</a:t>
            </a:r>
          </a:p>
        </p:txBody>
      </p:sp>
      <p:pic>
        <p:nvPicPr>
          <p:cNvPr id="5" name="Picture 4">
            <a:extLst>
              <a:ext uri="{FF2B5EF4-FFF2-40B4-BE49-F238E27FC236}">
                <a16:creationId xmlns:a16="http://schemas.microsoft.com/office/drawing/2014/main" id="{7F7CC9E3-94CC-12DA-4AED-930F57343C04}"/>
              </a:ext>
            </a:extLst>
          </p:cNvPr>
          <p:cNvPicPr>
            <a:picLocks noChangeAspect="1"/>
          </p:cNvPicPr>
          <p:nvPr/>
        </p:nvPicPr>
        <p:blipFill>
          <a:blip r:embed="rId2"/>
          <a:stretch>
            <a:fillRect/>
          </a:stretch>
        </p:blipFill>
        <p:spPr>
          <a:xfrm>
            <a:off x="2344612" y="1910833"/>
            <a:ext cx="6522698" cy="4351338"/>
          </a:xfrm>
          <a:prstGeom prst="rect">
            <a:avLst/>
          </a:prstGeom>
        </p:spPr>
      </p:pic>
      <p:sp>
        <p:nvSpPr>
          <p:cNvPr id="6" name="TextBox 5">
            <a:extLst>
              <a:ext uri="{FF2B5EF4-FFF2-40B4-BE49-F238E27FC236}">
                <a16:creationId xmlns:a16="http://schemas.microsoft.com/office/drawing/2014/main" id="{E31A7E77-47D7-423A-5B0A-FE4FC52321EA}"/>
              </a:ext>
            </a:extLst>
          </p:cNvPr>
          <p:cNvSpPr txBox="1"/>
          <p:nvPr/>
        </p:nvSpPr>
        <p:spPr>
          <a:xfrm>
            <a:off x="5094514" y="6262171"/>
            <a:ext cx="2528596" cy="369332"/>
          </a:xfrm>
          <a:prstGeom prst="rect">
            <a:avLst/>
          </a:prstGeom>
          <a:noFill/>
        </p:spPr>
        <p:txBody>
          <a:bodyPr wrap="square" rtlCol="0">
            <a:spAutoFit/>
          </a:bodyPr>
          <a:lstStyle/>
          <a:p>
            <a:r>
              <a:rPr lang="en-US" dirty="0"/>
              <a:t>n components</a:t>
            </a:r>
          </a:p>
        </p:txBody>
      </p:sp>
      <p:sp>
        <p:nvSpPr>
          <p:cNvPr id="8" name="TextBox 7">
            <a:extLst>
              <a:ext uri="{FF2B5EF4-FFF2-40B4-BE49-F238E27FC236}">
                <a16:creationId xmlns:a16="http://schemas.microsoft.com/office/drawing/2014/main" id="{41923574-FC0F-3D11-A950-9357B3BF4F96}"/>
              </a:ext>
            </a:extLst>
          </p:cNvPr>
          <p:cNvSpPr txBox="1"/>
          <p:nvPr/>
        </p:nvSpPr>
        <p:spPr>
          <a:xfrm rot="16200000">
            <a:off x="895647" y="3508718"/>
            <a:ext cx="2528596" cy="369332"/>
          </a:xfrm>
          <a:prstGeom prst="rect">
            <a:avLst/>
          </a:prstGeom>
          <a:noFill/>
        </p:spPr>
        <p:txBody>
          <a:bodyPr wrap="square" rtlCol="0">
            <a:spAutoFit/>
          </a:bodyPr>
          <a:lstStyle/>
          <a:p>
            <a:r>
              <a:rPr lang="en-US" dirty="0"/>
              <a:t>explained variance</a:t>
            </a:r>
          </a:p>
        </p:txBody>
      </p:sp>
      <p:sp>
        <p:nvSpPr>
          <p:cNvPr id="11" name="TextBox 10">
            <a:extLst>
              <a:ext uri="{FF2B5EF4-FFF2-40B4-BE49-F238E27FC236}">
                <a16:creationId xmlns:a16="http://schemas.microsoft.com/office/drawing/2014/main" id="{CB136205-B64A-E16E-204D-3134758517C1}"/>
              </a:ext>
            </a:extLst>
          </p:cNvPr>
          <p:cNvSpPr txBox="1"/>
          <p:nvPr/>
        </p:nvSpPr>
        <p:spPr>
          <a:xfrm>
            <a:off x="9236643" y="2929812"/>
            <a:ext cx="2117157" cy="923330"/>
          </a:xfrm>
          <a:prstGeom prst="rect">
            <a:avLst/>
          </a:prstGeom>
          <a:noFill/>
        </p:spPr>
        <p:txBody>
          <a:bodyPr wrap="square" rtlCol="0">
            <a:spAutoFit/>
          </a:bodyPr>
          <a:lstStyle/>
          <a:p>
            <a:r>
              <a:rPr lang="en-US" dirty="0"/>
              <a:t>Top 20 components explain ~80% of variance</a:t>
            </a:r>
          </a:p>
        </p:txBody>
      </p:sp>
    </p:spTree>
    <p:extLst>
      <p:ext uri="{BB962C8B-B14F-4D97-AF65-F5344CB8AC3E}">
        <p14:creationId xmlns:p14="http://schemas.microsoft.com/office/powerpoint/2010/main" val="26919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83637-0478-08CA-F9A7-96A871E25964}"/>
              </a:ext>
            </a:extLst>
          </p:cNvPr>
          <p:cNvSpPr>
            <a:spLocks noGrp="1"/>
          </p:cNvSpPr>
          <p:nvPr>
            <p:ph type="title"/>
          </p:nvPr>
        </p:nvSpPr>
        <p:spPr>
          <a:xfrm>
            <a:off x="838200" y="18255"/>
            <a:ext cx="10515600" cy="1325563"/>
          </a:xfrm>
        </p:spPr>
        <p:txBody>
          <a:bodyPr/>
          <a:lstStyle/>
          <a:p>
            <a:r>
              <a:rPr lang="en-US" dirty="0"/>
              <a:t>Cluster on top 20 components</a:t>
            </a:r>
          </a:p>
        </p:txBody>
      </p:sp>
      <p:pic>
        <p:nvPicPr>
          <p:cNvPr id="7" name="Picture 6">
            <a:extLst>
              <a:ext uri="{FF2B5EF4-FFF2-40B4-BE49-F238E27FC236}">
                <a16:creationId xmlns:a16="http://schemas.microsoft.com/office/drawing/2014/main" id="{A0FACF46-EEDE-8C52-4EED-CE5FC5E96E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9252" y="1132390"/>
            <a:ext cx="7453495" cy="5399038"/>
          </a:xfrm>
          <a:prstGeom prst="rect">
            <a:avLst/>
          </a:prstGeom>
        </p:spPr>
      </p:pic>
      <p:sp>
        <p:nvSpPr>
          <p:cNvPr id="8" name="TextBox 7">
            <a:extLst>
              <a:ext uri="{FF2B5EF4-FFF2-40B4-BE49-F238E27FC236}">
                <a16:creationId xmlns:a16="http://schemas.microsoft.com/office/drawing/2014/main" id="{01A2455A-31E0-9472-DC6D-DD23EADA4ED8}"/>
              </a:ext>
            </a:extLst>
          </p:cNvPr>
          <p:cNvSpPr txBox="1"/>
          <p:nvPr/>
        </p:nvSpPr>
        <p:spPr>
          <a:xfrm>
            <a:off x="485192" y="1502229"/>
            <a:ext cx="1800808" cy="3416320"/>
          </a:xfrm>
          <a:prstGeom prst="rect">
            <a:avLst/>
          </a:prstGeom>
          <a:noFill/>
        </p:spPr>
        <p:txBody>
          <a:bodyPr wrap="square" rtlCol="0">
            <a:spAutoFit/>
          </a:bodyPr>
          <a:lstStyle/>
          <a:p>
            <a:r>
              <a:rPr lang="en-US" dirty="0"/>
              <a:t>1</a:t>
            </a:r>
          </a:p>
          <a:p>
            <a:endParaRPr lang="en-US" dirty="0"/>
          </a:p>
          <a:p>
            <a:r>
              <a:rPr lang="en-US" dirty="0"/>
              <a:t>2</a:t>
            </a:r>
          </a:p>
          <a:p>
            <a:r>
              <a:rPr lang="en-US" dirty="0"/>
              <a:t>3</a:t>
            </a:r>
          </a:p>
          <a:p>
            <a:endParaRPr lang="en-US" dirty="0"/>
          </a:p>
          <a:p>
            <a:r>
              <a:rPr lang="en-US" dirty="0"/>
              <a:t>4</a:t>
            </a:r>
          </a:p>
          <a:p>
            <a:endParaRPr lang="en-US" dirty="0"/>
          </a:p>
          <a:p>
            <a:r>
              <a:rPr lang="en-US" dirty="0"/>
              <a:t>5</a:t>
            </a:r>
          </a:p>
          <a:p>
            <a:endParaRPr lang="en-US" dirty="0"/>
          </a:p>
          <a:p>
            <a:endParaRPr lang="en-US" dirty="0"/>
          </a:p>
          <a:p>
            <a:endParaRPr lang="en-US" dirty="0"/>
          </a:p>
          <a:p>
            <a:r>
              <a:rPr lang="en-US" dirty="0"/>
              <a:t>6</a:t>
            </a:r>
          </a:p>
        </p:txBody>
      </p:sp>
      <p:cxnSp>
        <p:nvCxnSpPr>
          <p:cNvPr id="10" name="Straight Arrow Connector 9">
            <a:extLst>
              <a:ext uri="{FF2B5EF4-FFF2-40B4-BE49-F238E27FC236}">
                <a16:creationId xmlns:a16="http://schemas.microsoft.com/office/drawing/2014/main" id="{3DF197C3-D768-E4CD-AC98-2BE33CE5D3B8}"/>
              </a:ext>
            </a:extLst>
          </p:cNvPr>
          <p:cNvCxnSpPr/>
          <p:nvPr/>
        </p:nvCxnSpPr>
        <p:spPr>
          <a:xfrm>
            <a:off x="737118" y="1688841"/>
            <a:ext cx="248194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B189BC93-8014-7573-9C8C-6192825B6C9C}"/>
              </a:ext>
            </a:extLst>
          </p:cNvPr>
          <p:cNvCxnSpPr/>
          <p:nvPr/>
        </p:nvCxnSpPr>
        <p:spPr>
          <a:xfrm flipV="1">
            <a:off x="838200" y="2164702"/>
            <a:ext cx="3089988" cy="653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16AF31D4-DC18-2F0A-6DBD-45AA9E380FD3}"/>
              </a:ext>
            </a:extLst>
          </p:cNvPr>
          <p:cNvCxnSpPr/>
          <p:nvPr/>
        </p:nvCxnSpPr>
        <p:spPr>
          <a:xfrm>
            <a:off x="737118" y="2519265"/>
            <a:ext cx="3732245" cy="6531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6F3126D2-F082-46CD-E5CD-3856B45999A0}"/>
              </a:ext>
            </a:extLst>
          </p:cNvPr>
          <p:cNvCxnSpPr/>
          <p:nvPr/>
        </p:nvCxnSpPr>
        <p:spPr>
          <a:xfrm>
            <a:off x="838200" y="3041780"/>
            <a:ext cx="4237653" cy="1686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8F5AE2BF-24A8-BB3E-4BE8-77AF92CC3D5F}"/>
              </a:ext>
            </a:extLst>
          </p:cNvPr>
          <p:cNvCxnSpPr/>
          <p:nvPr/>
        </p:nvCxnSpPr>
        <p:spPr>
          <a:xfrm>
            <a:off x="838200" y="3629608"/>
            <a:ext cx="5257799" cy="3359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FFDBC45F-A9F6-7C44-1BBB-6C6382116844}"/>
              </a:ext>
            </a:extLst>
          </p:cNvPr>
          <p:cNvCxnSpPr/>
          <p:nvPr/>
        </p:nvCxnSpPr>
        <p:spPr>
          <a:xfrm>
            <a:off x="838200" y="4683967"/>
            <a:ext cx="6728927" cy="47586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31877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02D696B-221B-7AE4-A3D3-D6F66108F58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2284" t="48535" r="27699"/>
          <a:stretch>
            <a:fillRect/>
          </a:stretch>
        </p:blipFill>
        <p:spPr>
          <a:xfrm>
            <a:off x="8043952" y="3818066"/>
            <a:ext cx="3601341" cy="2779291"/>
          </a:xfrm>
          <a:prstGeom prst="rect">
            <a:avLst/>
          </a:prstGeom>
        </p:spPr>
      </p:pic>
      <p:pic>
        <p:nvPicPr>
          <p:cNvPr id="7" name="Picture 6">
            <a:extLst>
              <a:ext uri="{FF2B5EF4-FFF2-40B4-BE49-F238E27FC236}">
                <a16:creationId xmlns:a16="http://schemas.microsoft.com/office/drawing/2014/main" id="{B9E594B8-3405-ECB9-6D66-ACC99CEDE46D}"/>
              </a:ext>
            </a:extLst>
          </p:cNvPr>
          <p:cNvPicPr>
            <a:picLocks noChangeAspect="1"/>
          </p:cNvPicPr>
          <p:nvPr/>
        </p:nvPicPr>
        <p:blipFill>
          <a:blip r:embed="rId3">
            <a:extLst>
              <a:ext uri="{28A0092B-C50C-407E-A947-70E740481C1C}">
                <a14:useLocalDpi xmlns:a14="http://schemas.microsoft.com/office/drawing/2010/main" val="0"/>
              </a:ext>
            </a:extLst>
          </a:blip>
          <a:srcRect l="24252" t="67074" r="31667"/>
          <a:stretch>
            <a:fillRect/>
          </a:stretch>
        </p:blipFill>
        <p:spPr>
          <a:xfrm>
            <a:off x="3700869" y="4078708"/>
            <a:ext cx="4030824" cy="2258008"/>
          </a:xfrm>
          <a:prstGeom prst="rect">
            <a:avLst/>
          </a:prstGeom>
        </p:spPr>
      </p:pic>
      <p:pic>
        <p:nvPicPr>
          <p:cNvPr id="9" name="Picture 8">
            <a:extLst>
              <a:ext uri="{FF2B5EF4-FFF2-40B4-BE49-F238E27FC236}">
                <a16:creationId xmlns:a16="http://schemas.microsoft.com/office/drawing/2014/main" id="{5EB6DEFB-6281-15D8-89B6-A8B01D88BB88}"/>
              </a:ext>
            </a:extLst>
          </p:cNvPr>
          <p:cNvPicPr>
            <a:picLocks noChangeAspect="1"/>
          </p:cNvPicPr>
          <p:nvPr/>
        </p:nvPicPr>
        <p:blipFill>
          <a:blip r:embed="rId4">
            <a:extLst>
              <a:ext uri="{28A0092B-C50C-407E-A947-70E740481C1C}">
                <a14:useLocalDpi xmlns:a14="http://schemas.microsoft.com/office/drawing/2010/main" val="0"/>
              </a:ext>
            </a:extLst>
          </a:blip>
          <a:srcRect l="22313" t="27075" r="29561"/>
          <a:stretch>
            <a:fillRect/>
          </a:stretch>
        </p:blipFill>
        <p:spPr>
          <a:xfrm>
            <a:off x="332792" y="3323825"/>
            <a:ext cx="3055818" cy="3472835"/>
          </a:xfrm>
          <a:prstGeom prst="rect">
            <a:avLst/>
          </a:prstGeom>
        </p:spPr>
      </p:pic>
      <p:pic>
        <p:nvPicPr>
          <p:cNvPr id="11" name="Picture 10">
            <a:extLst>
              <a:ext uri="{FF2B5EF4-FFF2-40B4-BE49-F238E27FC236}">
                <a16:creationId xmlns:a16="http://schemas.microsoft.com/office/drawing/2014/main" id="{90B65FB3-FEA9-7DEB-AF4F-55A14E82C3F8}"/>
              </a:ext>
            </a:extLst>
          </p:cNvPr>
          <p:cNvPicPr>
            <a:picLocks noChangeAspect="1"/>
          </p:cNvPicPr>
          <p:nvPr/>
        </p:nvPicPr>
        <p:blipFill>
          <a:blip r:embed="rId5">
            <a:extLst>
              <a:ext uri="{28A0092B-C50C-407E-A947-70E740481C1C}">
                <a14:useLocalDpi xmlns:a14="http://schemas.microsoft.com/office/drawing/2010/main" val="0"/>
              </a:ext>
            </a:extLst>
          </a:blip>
          <a:srcRect l="34558" t="65850" r="40442"/>
          <a:stretch>
            <a:fillRect/>
          </a:stretch>
        </p:blipFill>
        <p:spPr>
          <a:xfrm>
            <a:off x="8364936" y="365125"/>
            <a:ext cx="2939143" cy="3011122"/>
          </a:xfrm>
          <a:prstGeom prst="rect">
            <a:avLst/>
          </a:prstGeom>
        </p:spPr>
      </p:pic>
      <p:pic>
        <p:nvPicPr>
          <p:cNvPr id="13" name="Picture 12">
            <a:extLst>
              <a:ext uri="{FF2B5EF4-FFF2-40B4-BE49-F238E27FC236}">
                <a16:creationId xmlns:a16="http://schemas.microsoft.com/office/drawing/2014/main" id="{07C1B207-85C0-04A7-5E04-02635920BA87}"/>
              </a:ext>
            </a:extLst>
          </p:cNvPr>
          <p:cNvPicPr>
            <a:picLocks noChangeAspect="1"/>
          </p:cNvPicPr>
          <p:nvPr/>
        </p:nvPicPr>
        <p:blipFill>
          <a:blip r:embed="rId6">
            <a:extLst>
              <a:ext uri="{28A0092B-C50C-407E-A947-70E740481C1C}">
                <a14:useLocalDpi xmlns:a14="http://schemas.microsoft.com/office/drawing/2010/main" val="0"/>
              </a:ext>
            </a:extLst>
          </a:blip>
          <a:srcRect l="31292" t="65307" r="37891" b="-1"/>
          <a:stretch>
            <a:fillRect/>
          </a:stretch>
        </p:blipFill>
        <p:spPr>
          <a:xfrm>
            <a:off x="3873913" y="291967"/>
            <a:ext cx="3715233" cy="3137033"/>
          </a:xfrm>
          <a:prstGeom prst="rect">
            <a:avLst/>
          </a:prstGeom>
        </p:spPr>
      </p:pic>
      <p:pic>
        <p:nvPicPr>
          <p:cNvPr id="15" name="Picture 14">
            <a:extLst>
              <a:ext uri="{FF2B5EF4-FFF2-40B4-BE49-F238E27FC236}">
                <a16:creationId xmlns:a16="http://schemas.microsoft.com/office/drawing/2014/main" id="{BA2CC61F-3AA8-048D-B62D-1A210C608A61}"/>
              </a:ext>
            </a:extLst>
          </p:cNvPr>
          <p:cNvPicPr>
            <a:picLocks noChangeAspect="1"/>
          </p:cNvPicPr>
          <p:nvPr/>
        </p:nvPicPr>
        <p:blipFill>
          <a:blip r:embed="rId7">
            <a:extLst>
              <a:ext uri="{28A0092B-C50C-407E-A947-70E740481C1C}">
                <a14:useLocalDpi xmlns:a14="http://schemas.microsoft.com/office/drawing/2010/main" val="0"/>
              </a:ext>
            </a:extLst>
          </a:blip>
          <a:srcRect l="32824" t="43673" r="38299" b="1"/>
          <a:stretch>
            <a:fillRect/>
          </a:stretch>
        </p:blipFill>
        <p:spPr>
          <a:xfrm>
            <a:off x="768675" y="61340"/>
            <a:ext cx="2184052" cy="3195043"/>
          </a:xfrm>
          <a:prstGeom prst="rect">
            <a:avLst/>
          </a:prstGeom>
        </p:spPr>
      </p:pic>
      <p:sp>
        <p:nvSpPr>
          <p:cNvPr id="16" name="TextBox 15">
            <a:extLst>
              <a:ext uri="{FF2B5EF4-FFF2-40B4-BE49-F238E27FC236}">
                <a16:creationId xmlns:a16="http://schemas.microsoft.com/office/drawing/2014/main" id="{8F533B0E-6C03-9C66-917E-796BDE311A79}"/>
              </a:ext>
            </a:extLst>
          </p:cNvPr>
          <p:cNvSpPr txBox="1"/>
          <p:nvPr/>
        </p:nvSpPr>
        <p:spPr>
          <a:xfrm>
            <a:off x="332792" y="1289529"/>
            <a:ext cx="564544" cy="369332"/>
          </a:xfrm>
          <a:prstGeom prst="rect">
            <a:avLst/>
          </a:prstGeom>
          <a:noFill/>
        </p:spPr>
        <p:txBody>
          <a:bodyPr wrap="square" rtlCol="0">
            <a:spAutoFit/>
          </a:bodyPr>
          <a:lstStyle/>
          <a:p>
            <a:r>
              <a:rPr lang="en-US" dirty="0">
                <a:solidFill>
                  <a:schemeClr val="bg1"/>
                </a:solidFill>
              </a:rPr>
              <a:t>1</a:t>
            </a:r>
          </a:p>
        </p:txBody>
      </p:sp>
      <p:sp>
        <p:nvSpPr>
          <p:cNvPr id="18" name="TextBox 17">
            <a:extLst>
              <a:ext uri="{FF2B5EF4-FFF2-40B4-BE49-F238E27FC236}">
                <a16:creationId xmlns:a16="http://schemas.microsoft.com/office/drawing/2014/main" id="{D02249F0-7BFB-0D52-C46C-47914CC27CB6}"/>
              </a:ext>
            </a:extLst>
          </p:cNvPr>
          <p:cNvSpPr txBox="1"/>
          <p:nvPr/>
        </p:nvSpPr>
        <p:spPr>
          <a:xfrm>
            <a:off x="3418597" y="1326810"/>
            <a:ext cx="564544" cy="369332"/>
          </a:xfrm>
          <a:prstGeom prst="rect">
            <a:avLst/>
          </a:prstGeom>
          <a:noFill/>
        </p:spPr>
        <p:txBody>
          <a:bodyPr wrap="square" rtlCol="0">
            <a:spAutoFit/>
          </a:bodyPr>
          <a:lstStyle/>
          <a:p>
            <a:r>
              <a:rPr lang="en-US" dirty="0">
                <a:solidFill>
                  <a:schemeClr val="bg1"/>
                </a:solidFill>
              </a:rPr>
              <a:t>2</a:t>
            </a:r>
          </a:p>
        </p:txBody>
      </p:sp>
      <p:sp>
        <p:nvSpPr>
          <p:cNvPr id="20" name="TextBox 19">
            <a:extLst>
              <a:ext uri="{FF2B5EF4-FFF2-40B4-BE49-F238E27FC236}">
                <a16:creationId xmlns:a16="http://schemas.microsoft.com/office/drawing/2014/main" id="{B985D74C-C148-FA1A-11D0-8B0A48ED1EC2}"/>
              </a:ext>
            </a:extLst>
          </p:cNvPr>
          <p:cNvSpPr txBox="1"/>
          <p:nvPr/>
        </p:nvSpPr>
        <p:spPr>
          <a:xfrm>
            <a:off x="7945788" y="1474195"/>
            <a:ext cx="564544" cy="369332"/>
          </a:xfrm>
          <a:prstGeom prst="rect">
            <a:avLst/>
          </a:prstGeom>
          <a:noFill/>
        </p:spPr>
        <p:txBody>
          <a:bodyPr wrap="square" rtlCol="0">
            <a:spAutoFit/>
          </a:bodyPr>
          <a:lstStyle/>
          <a:p>
            <a:r>
              <a:rPr lang="en-US" dirty="0">
                <a:solidFill>
                  <a:schemeClr val="bg1"/>
                </a:solidFill>
              </a:rPr>
              <a:t>3</a:t>
            </a:r>
          </a:p>
        </p:txBody>
      </p:sp>
      <p:sp>
        <p:nvSpPr>
          <p:cNvPr id="22" name="TextBox 21">
            <a:extLst>
              <a:ext uri="{FF2B5EF4-FFF2-40B4-BE49-F238E27FC236}">
                <a16:creationId xmlns:a16="http://schemas.microsoft.com/office/drawing/2014/main" id="{546A2F8E-F4C6-D5DB-7218-8512186353D9}"/>
              </a:ext>
            </a:extLst>
          </p:cNvPr>
          <p:cNvSpPr txBox="1"/>
          <p:nvPr/>
        </p:nvSpPr>
        <p:spPr>
          <a:xfrm>
            <a:off x="50520" y="4690910"/>
            <a:ext cx="564544" cy="369332"/>
          </a:xfrm>
          <a:prstGeom prst="rect">
            <a:avLst/>
          </a:prstGeom>
          <a:noFill/>
        </p:spPr>
        <p:txBody>
          <a:bodyPr wrap="square" rtlCol="0">
            <a:spAutoFit/>
          </a:bodyPr>
          <a:lstStyle/>
          <a:p>
            <a:r>
              <a:rPr lang="en-US" dirty="0">
                <a:solidFill>
                  <a:schemeClr val="bg1"/>
                </a:solidFill>
              </a:rPr>
              <a:t>4</a:t>
            </a:r>
          </a:p>
        </p:txBody>
      </p:sp>
      <p:sp>
        <p:nvSpPr>
          <p:cNvPr id="24" name="TextBox 23">
            <a:extLst>
              <a:ext uri="{FF2B5EF4-FFF2-40B4-BE49-F238E27FC236}">
                <a16:creationId xmlns:a16="http://schemas.microsoft.com/office/drawing/2014/main" id="{54D9C339-EF11-0D18-572F-02D38E79B6CD}"/>
              </a:ext>
            </a:extLst>
          </p:cNvPr>
          <p:cNvSpPr txBox="1"/>
          <p:nvPr/>
        </p:nvSpPr>
        <p:spPr>
          <a:xfrm>
            <a:off x="3381436" y="4724632"/>
            <a:ext cx="564544" cy="369332"/>
          </a:xfrm>
          <a:prstGeom prst="rect">
            <a:avLst/>
          </a:prstGeom>
          <a:noFill/>
        </p:spPr>
        <p:txBody>
          <a:bodyPr wrap="square" rtlCol="0">
            <a:spAutoFit/>
          </a:bodyPr>
          <a:lstStyle/>
          <a:p>
            <a:r>
              <a:rPr lang="en-US" dirty="0">
                <a:solidFill>
                  <a:schemeClr val="bg1"/>
                </a:solidFill>
              </a:rPr>
              <a:t>5</a:t>
            </a:r>
          </a:p>
        </p:txBody>
      </p:sp>
      <p:sp>
        <p:nvSpPr>
          <p:cNvPr id="26" name="TextBox 25">
            <a:extLst>
              <a:ext uri="{FF2B5EF4-FFF2-40B4-BE49-F238E27FC236}">
                <a16:creationId xmlns:a16="http://schemas.microsoft.com/office/drawing/2014/main" id="{1F7200D1-CFC8-F3BF-2508-E67FC6DD23AB}"/>
              </a:ext>
            </a:extLst>
          </p:cNvPr>
          <p:cNvSpPr txBox="1"/>
          <p:nvPr/>
        </p:nvSpPr>
        <p:spPr>
          <a:xfrm>
            <a:off x="7800392" y="4645142"/>
            <a:ext cx="564544" cy="369332"/>
          </a:xfrm>
          <a:prstGeom prst="rect">
            <a:avLst/>
          </a:prstGeom>
          <a:noFill/>
        </p:spPr>
        <p:txBody>
          <a:bodyPr wrap="square" rtlCol="0">
            <a:spAutoFit/>
          </a:bodyPr>
          <a:lstStyle/>
          <a:p>
            <a:r>
              <a:rPr lang="en-US" dirty="0">
                <a:solidFill>
                  <a:schemeClr val="bg1"/>
                </a:solidFill>
              </a:rPr>
              <a:t>6</a:t>
            </a:r>
          </a:p>
        </p:txBody>
      </p:sp>
    </p:spTree>
    <p:extLst>
      <p:ext uri="{BB962C8B-B14F-4D97-AF65-F5344CB8AC3E}">
        <p14:creationId xmlns:p14="http://schemas.microsoft.com/office/powerpoint/2010/main" val="891375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B58A1-7D0A-789E-BC46-ABE393B3A268}"/>
              </a:ext>
            </a:extLst>
          </p:cNvPr>
          <p:cNvSpPr>
            <a:spLocks noGrp="1"/>
          </p:cNvSpPr>
          <p:nvPr>
            <p:ph type="title"/>
          </p:nvPr>
        </p:nvSpPr>
        <p:spPr/>
        <p:txBody>
          <a:bodyPr/>
          <a:lstStyle/>
          <a:p>
            <a:r>
              <a:rPr lang="en-US" dirty="0"/>
              <a:t>Loadings of regions onto top 6 PCs</a:t>
            </a:r>
          </a:p>
        </p:txBody>
      </p:sp>
      <p:pic>
        <p:nvPicPr>
          <p:cNvPr id="5" name="Content Placeholder 4">
            <a:extLst>
              <a:ext uri="{FF2B5EF4-FFF2-40B4-BE49-F238E27FC236}">
                <a16:creationId xmlns:a16="http://schemas.microsoft.com/office/drawing/2014/main" id="{4ED351CB-95CE-52B0-0E3F-D012294462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566" y="1332644"/>
            <a:ext cx="3935303" cy="2623535"/>
          </a:xfrm>
          <a:prstGeom prst="rect">
            <a:avLst/>
          </a:prstGeom>
        </p:spPr>
      </p:pic>
      <p:pic>
        <p:nvPicPr>
          <p:cNvPr id="7" name="Picture 6">
            <a:extLst>
              <a:ext uri="{FF2B5EF4-FFF2-40B4-BE49-F238E27FC236}">
                <a16:creationId xmlns:a16="http://schemas.microsoft.com/office/drawing/2014/main" id="{554C1DC5-FA11-88A0-6D7C-3835376F5D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7536" y="1332644"/>
            <a:ext cx="3376927" cy="2251284"/>
          </a:xfrm>
          <a:prstGeom prst="rect">
            <a:avLst/>
          </a:prstGeom>
        </p:spPr>
      </p:pic>
      <p:pic>
        <p:nvPicPr>
          <p:cNvPr id="9" name="Picture 8">
            <a:extLst>
              <a:ext uri="{FF2B5EF4-FFF2-40B4-BE49-F238E27FC236}">
                <a16:creationId xmlns:a16="http://schemas.microsoft.com/office/drawing/2014/main" id="{F287C0C7-B943-CEFF-605A-54995B1639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6357" y="1466374"/>
            <a:ext cx="3534110" cy="2356073"/>
          </a:xfrm>
          <a:prstGeom prst="rect">
            <a:avLst/>
          </a:prstGeom>
        </p:spPr>
      </p:pic>
      <p:pic>
        <p:nvPicPr>
          <p:cNvPr id="11" name="Picture 10">
            <a:extLst>
              <a:ext uri="{FF2B5EF4-FFF2-40B4-BE49-F238E27FC236}">
                <a16:creationId xmlns:a16="http://schemas.microsoft.com/office/drawing/2014/main" id="{61C1D923-F50F-9828-0EE5-D739614349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210" y="3956179"/>
            <a:ext cx="3935303" cy="2623535"/>
          </a:xfrm>
          <a:prstGeom prst="rect">
            <a:avLst/>
          </a:prstGeom>
        </p:spPr>
      </p:pic>
      <p:pic>
        <p:nvPicPr>
          <p:cNvPr id="13" name="Picture 12">
            <a:extLst>
              <a:ext uri="{FF2B5EF4-FFF2-40B4-BE49-F238E27FC236}">
                <a16:creationId xmlns:a16="http://schemas.microsoft.com/office/drawing/2014/main" id="{2B9A7CDE-B7A8-2C7A-9EC8-9B9978845B0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80869" y="3956179"/>
            <a:ext cx="3935302" cy="2623534"/>
          </a:xfrm>
          <a:prstGeom prst="rect">
            <a:avLst/>
          </a:prstGeom>
        </p:spPr>
      </p:pic>
      <p:pic>
        <p:nvPicPr>
          <p:cNvPr id="15" name="Picture 14">
            <a:extLst>
              <a:ext uri="{FF2B5EF4-FFF2-40B4-BE49-F238E27FC236}">
                <a16:creationId xmlns:a16="http://schemas.microsoft.com/office/drawing/2014/main" id="{E3CB7FF0-EC64-6ACA-6317-E415A4E342E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41528" y="3956178"/>
            <a:ext cx="3757268" cy="2504845"/>
          </a:xfrm>
          <a:prstGeom prst="rect">
            <a:avLst/>
          </a:prstGeom>
        </p:spPr>
      </p:pic>
    </p:spTree>
    <p:extLst>
      <p:ext uri="{BB962C8B-B14F-4D97-AF65-F5344CB8AC3E}">
        <p14:creationId xmlns:p14="http://schemas.microsoft.com/office/powerpoint/2010/main" val="2451047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A4927-01F0-9307-6FDB-38A6773CCAE7}"/>
              </a:ext>
            </a:extLst>
          </p:cNvPr>
          <p:cNvSpPr>
            <a:spLocks noGrp="1"/>
          </p:cNvSpPr>
          <p:nvPr>
            <p:ph type="title"/>
          </p:nvPr>
        </p:nvSpPr>
        <p:spPr/>
        <p:txBody>
          <a:bodyPr/>
          <a:lstStyle/>
          <a:p>
            <a:r>
              <a:rPr lang="en-US" dirty="0" err="1"/>
              <a:t>sPCA</a:t>
            </a:r>
            <a:r>
              <a:rPr lang="en-US" dirty="0"/>
              <a:t> cell by cell correlation coefficient, again top 20 PCs</a:t>
            </a:r>
          </a:p>
        </p:txBody>
      </p:sp>
      <p:pic>
        <p:nvPicPr>
          <p:cNvPr id="8" name="Picture 7">
            <a:extLst>
              <a:ext uri="{FF2B5EF4-FFF2-40B4-BE49-F238E27FC236}">
                <a16:creationId xmlns:a16="http://schemas.microsoft.com/office/drawing/2014/main" id="{FAA04A95-9681-E389-3192-95A8B9A70164}"/>
              </a:ext>
            </a:extLst>
          </p:cNvPr>
          <p:cNvPicPr>
            <a:picLocks noChangeAspect="1"/>
          </p:cNvPicPr>
          <p:nvPr/>
        </p:nvPicPr>
        <p:blipFill>
          <a:blip r:embed="rId3"/>
          <a:stretch>
            <a:fillRect/>
          </a:stretch>
        </p:blipFill>
        <p:spPr>
          <a:xfrm>
            <a:off x="2443065" y="1690688"/>
            <a:ext cx="7018941" cy="4999361"/>
          </a:xfrm>
          <a:prstGeom prst="rect">
            <a:avLst/>
          </a:prstGeom>
        </p:spPr>
      </p:pic>
      <p:sp>
        <p:nvSpPr>
          <p:cNvPr id="9" name="TextBox 8">
            <a:extLst>
              <a:ext uri="{FF2B5EF4-FFF2-40B4-BE49-F238E27FC236}">
                <a16:creationId xmlns:a16="http://schemas.microsoft.com/office/drawing/2014/main" id="{6BB1F4D3-E98B-CAE3-D6F2-0AF4CC733A7B}"/>
              </a:ext>
            </a:extLst>
          </p:cNvPr>
          <p:cNvSpPr txBox="1"/>
          <p:nvPr/>
        </p:nvSpPr>
        <p:spPr>
          <a:xfrm>
            <a:off x="838200" y="1978090"/>
            <a:ext cx="1604865" cy="3970318"/>
          </a:xfrm>
          <a:prstGeom prst="rect">
            <a:avLst/>
          </a:prstGeom>
          <a:noFill/>
        </p:spPr>
        <p:txBody>
          <a:bodyPr wrap="square" rtlCol="0">
            <a:spAutoFit/>
          </a:bodyPr>
          <a:lstStyle/>
          <a:p>
            <a:r>
              <a:rPr lang="en-US" dirty="0"/>
              <a:t>1</a:t>
            </a:r>
          </a:p>
          <a:p>
            <a:endParaRPr lang="en-US" dirty="0"/>
          </a:p>
          <a:p>
            <a:endParaRPr lang="en-US" dirty="0"/>
          </a:p>
          <a:p>
            <a:endParaRPr lang="en-US" dirty="0"/>
          </a:p>
          <a:p>
            <a:r>
              <a:rPr lang="en-US" dirty="0"/>
              <a:t>2</a:t>
            </a:r>
          </a:p>
          <a:p>
            <a:endParaRPr lang="en-US" dirty="0"/>
          </a:p>
          <a:p>
            <a:endParaRPr lang="en-US" dirty="0"/>
          </a:p>
          <a:p>
            <a:endParaRPr lang="en-US" dirty="0"/>
          </a:p>
          <a:p>
            <a:r>
              <a:rPr lang="en-US" dirty="0"/>
              <a:t>3</a:t>
            </a:r>
          </a:p>
          <a:p>
            <a:endParaRPr lang="en-US" dirty="0"/>
          </a:p>
          <a:p>
            <a:r>
              <a:rPr lang="en-US" dirty="0"/>
              <a:t>4</a:t>
            </a:r>
          </a:p>
          <a:p>
            <a:endParaRPr lang="en-US" dirty="0"/>
          </a:p>
          <a:p>
            <a:endParaRPr lang="en-US" dirty="0"/>
          </a:p>
          <a:p>
            <a:r>
              <a:rPr lang="en-US" dirty="0"/>
              <a:t>5</a:t>
            </a:r>
          </a:p>
        </p:txBody>
      </p:sp>
      <p:cxnSp>
        <p:nvCxnSpPr>
          <p:cNvPr id="11" name="Straight Arrow Connector 10">
            <a:extLst>
              <a:ext uri="{FF2B5EF4-FFF2-40B4-BE49-F238E27FC236}">
                <a16:creationId xmlns:a16="http://schemas.microsoft.com/office/drawing/2014/main" id="{9D3786D9-B2B7-3D7D-AE35-8374586DD192}"/>
              </a:ext>
            </a:extLst>
          </p:cNvPr>
          <p:cNvCxnSpPr/>
          <p:nvPr/>
        </p:nvCxnSpPr>
        <p:spPr>
          <a:xfrm>
            <a:off x="1138335" y="2183363"/>
            <a:ext cx="2593910" cy="2799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1F9AA0E9-1EE2-EE4A-5E02-1328B786408F}"/>
              </a:ext>
            </a:extLst>
          </p:cNvPr>
          <p:cNvCxnSpPr/>
          <p:nvPr/>
        </p:nvCxnSpPr>
        <p:spPr>
          <a:xfrm>
            <a:off x="1138335" y="3247053"/>
            <a:ext cx="3928187" cy="3265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6BFCA689-8629-A289-E657-FB2A17126312}"/>
              </a:ext>
            </a:extLst>
          </p:cNvPr>
          <p:cNvCxnSpPr/>
          <p:nvPr/>
        </p:nvCxnSpPr>
        <p:spPr>
          <a:xfrm>
            <a:off x="1138335" y="4394718"/>
            <a:ext cx="474928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10F3FF07-E6CB-B8B3-E32D-4FF33C3AC7D1}"/>
              </a:ext>
            </a:extLst>
          </p:cNvPr>
          <p:cNvCxnSpPr/>
          <p:nvPr/>
        </p:nvCxnSpPr>
        <p:spPr>
          <a:xfrm>
            <a:off x="1138335" y="4889241"/>
            <a:ext cx="5607698" cy="839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712E302E-C301-3AC5-E0B2-BD9131DBDAFC}"/>
              </a:ext>
            </a:extLst>
          </p:cNvPr>
          <p:cNvCxnSpPr/>
          <p:nvPr/>
        </p:nvCxnSpPr>
        <p:spPr>
          <a:xfrm flipV="1">
            <a:off x="1138335" y="5561045"/>
            <a:ext cx="6326155" cy="19594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85334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79FDAF-0B2E-F012-8912-B87D51DECD18}"/>
              </a:ext>
            </a:extLst>
          </p:cNvPr>
          <p:cNvPicPr>
            <a:picLocks noChangeAspect="1"/>
          </p:cNvPicPr>
          <p:nvPr/>
        </p:nvPicPr>
        <p:blipFill>
          <a:blip r:embed="rId2">
            <a:extLst>
              <a:ext uri="{28A0092B-C50C-407E-A947-70E740481C1C}">
                <a14:useLocalDpi xmlns:a14="http://schemas.microsoft.com/office/drawing/2010/main" val="0"/>
              </a:ext>
            </a:extLst>
          </a:blip>
          <a:srcRect l="22014" t="49999" r="28865" b="1"/>
          <a:stretch>
            <a:fillRect/>
          </a:stretch>
        </p:blipFill>
        <p:spPr>
          <a:xfrm>
            <a:off x="0" y="34490"/>
            <a:ext cx="4491613" cy="3394509"/>
          </a:xfrm>
          <a:prstGeom prst="rect">
            <a:avLst/>
          </a:prstGeom>
        </p:spPr>
      </p:pic>
      <p:sp>
        <p:nvSpPr>
          <p:cNvPr id="6" name="TextBox 5">
            <a:extLst>
              <a:ext uri="{FF2B5EF4-FFF2-40B4-BE49-F238E27FC236}">
                <a16:creationId xmlns:a16="http://schemas.microsoft.com/office/drawing/2014/main" id="{F4252818-A76E-6A78-5F8E-9D0D83083ACD}"/>
              </a:ext>
            </a:extLst>
          </p:cNvPr>
          <p:cNvSpPr txBox="1"/>
          <p:nvPr/>
        </p:nvSpPr>
        <p:spPr>
          <a:xfrm>
            <a:off x="211015" y="2753248"/>
            <a:ext cx="472273" cy="369332"/>
          </a:xfrm>
          <a:prstGeom prst="rect">
            <a:avLst/>
          </a:prstGeom>
          <a:noFill/>
        </p:spPr>
        <p:txBody>
          <a:bodyPr wrap="square" rtlCol="0">
            <a:spAutoFit/>
          </a:bodyPr>
          <a:lstStyle/>
          <a:p>
            <a:r>
              <a:rPr lang="en-US" dirty="0">
                <a:solidFill>
                  <a:schemeClr val="bg1"/>
                </a:solidFill>
              </a:rPr>
              <a:t>1</a:t>
            </a:r>
          </a:p>
        </p:txBody>
      </p:sp>
      <p:pic>
        <p:nvPicPr>
          <p:cNvPr id="8" name="Picture 7">
            <a:extLst>
              <a:ext uri="{FF2B5EF4-FFF2-40B4-BE49-F238E27FC236}">
                <a16:creationId xmlns:a16="http://schemas.microsoft.com/office/drawing/2014/main" id="{A4D3D395-2914-E93E-48AE-5FF627B46810}"/>
              </a:ext>
            </a:extLst>
          </p:cNvPr>
          <p:cNvPicPr>
            <a:picLocks noChangeAspect="1"/>
          </p:cNvPicPr>
          <p:nvPr/>
        </p:nvPicPr>
        <p:blipFill>
          <a:blip r:embed="rId3">
            <a:extLst>
              <a:ext uri="{28A0092B-C50C-407E-A947-70E740481C1C}">
                <a14:useLocalDpi xmlns:a14="http://schemas.microsoft.com/office/drawing/2010/main" val="0"/>
              </a:ext>
            </a:extLst>
          </a:blip>
          <a:srcRect l="24652" t="40146" r="32454" b="1"/>
          <a:stretch>
            <a:fillRect/>
          </a:stretch>
        </p:blipFill>
        <p:spPr>
          <a:xfrm>
            <a:off x="4702628" y="36082"/>
            <a:ext cx="3427732" cy="3551179"/>
          </a:xfrm>
          <a:prstGeom prst="rect">
            <a:avLst/>
          </a:prstGeom>
        </p:spPr>
      </p:pic>
      <p:sp>
        <p:nvSpPr>
          <p:cNvPr id="10" name="TextBox 9">
            <a:extLst>
              <a:ext uri="{FF2B5EF4-FFF2-40B4-BE49-F238E27FC236}">
                <a16:creationId xmlns:a16="http://schemas.microsoft.com/office/drawing/2014/main" id="{1021CE58-AA90-F7B7-0634-D66160897753}"/>
              </a:ext>
            </a:extLst>
          </p:cNvPr>
          <p:cNvSpPr txBox="1"/>
          <p:nvPr/>
        </p:nvSpPr>
        <p:spPr>
          <a:xfrm>
            <a:off x="4702628" y="2753248"/>
            <a:ext cx="472273" cy="646331"/>
          </a:xfrm>
          <a:prstGeom prst="rect">
            <a:avLst/>
          </a:prstGeom>
          <a:noFill/>
        </p:spPr>
        <p:txBody>
          <a:bodyPr wrap="square" rtlCol="0">
            <a:spAutoFit/>
          </a:bodyPr>
          <a:lstStyle/>
          <a:p>
            <a:r>
              <a:rPr lang="en-US" dirty="0">
                <a:solidFill>
                  <a:schemeClr val="bg1"/>
                </a:solidFill>
              </a:rPr>
              <a:t>2</a:t>
            </a:r>
          </a:p>
          <a:p>
            <a:endParaRPr lang="en-US" dirty="0">
              <a:solidFill>
                <a:schemeClr val="bg1"/>
              </a:solidFill>
            </a:endParaRPr>
          </a:p>
        </p:txBody>
      </p:sp>
      <p:pic>
        <p:nvPicPr>
          <p:cNvPr id="12" name="Picture 11">
            <a:extLst>
              <a:ext uri="{FF2B5EF4-FFF2-40B4-BE49-F238E27FC236}">
                <a16:creationId xmlns:a16="http://schemas.microsoft.com/office/drawing/2014/main" id="{92DD5ACF-0574-DA2D-5754-EB2C54C22732}"/>
              </a:ext>
            </a:extLst>
          </p:cNvPr>
          <p:cNvPicPr>
            <a:picLocks noChangeAspect="1"/>
          </p:cNvPicPr>
          <p:nvPr/>
        </p:nvPicPr>
        <p:blipFill>
          <a:blip r:embed="rId4">
            <a:extLst>
              <a:ext uri="{28A0092B-C50C-407E-A947-70E740481C1C}">
                <a14:useLocalDpi xmlns:a14="http://schemas.microsoft.com/office/drawing/2010/main" val="0"/>
              </a:ext>
            </a:extLst>
          </a:blip>
          <a:srcRect l="32454" t="49571" r="37656"/>
          <a:stretch>
            <a:fillRect/>
          </a:stretch>
        </p:blipFill>
        <p:spPr>
          <a:xfrm>
            <a:off x="8812404" y="34787"/>
            <a:ext cx="2733152" cy="3423634"/>
          </a:xfrm>
          <a:prstGeom prst="rect">
            <a:avLst/>
          </a:prstGeom>
        </p:spPr>
      </p:pic>
      <p:sp>
        <p:nvSpPr>
          <p:cNvPr id="14" name="TextBox 13">
            <a:extLst>
              <a:ext uri="{FF2B5EF4-FFF2-40B4-BE49-F238E27FC236}">
                <a16:creationId xmlns:a16="http://schemas.microsoft.com/office/drawing/2014/main" id="{8C6AF61B-EEED-C4C0-C556-306BB88092A1}"/>
              </a:ext>
            </a:extLst>
          </p:cNvPr>
          <p:cNvSpPr txBox="1"/>
          <p:nvPr/>
        </p:nvSpPr>
        <p:spPr>
          <a:xfrm>
            <a:off x="8812404" y="2782669"/>
            <a:ext cx="472273" cy="646331"/>
          </a:xfrm>
          <a:prstGeom prst="rect">
            <a:avLst/>
          </a:prstGeom>
          <a:noFill/>
        </p:spPr>
        <p:txBody>
          <a:bodyPr wrap="square" rtlCol="0">
            <a:spAutoFit/>
          </a:bodyPr>
          <a:lstStyle/>
          <a:p>
            <a:r>
              <a:rPr lang="en-US" dirty="0">
                <a:solidFill>
                  <a:schemeClr val="bg1"/>
                </a:solidFill>
              </a:rPr>
              <a:t>3</a:t>
            </a:r>
          </a:p>
          <a:p>
            <a:endParaRPr lang="en-US" dirty="0">
              <a:solidFill>
                <a:schemeClr val="bg1"/>
              </a:solidFill>
            </a:endParaRPr>
          </a:p>
        </p:txBody>
      </p:sp>
      <p:pic>
        <p:nvPicPr>
          <p:cNvPr id="16" name="Picture 15">
            <a:extLst>
              <a:ext uri="{FF2B5EF4-FFF2-40B4-BE49-F238E27FC236}">
                <a16:creationId xmlns:a16="http://schemas.microsoft.com/office/drawing/2014/main" id="{1FE088C8-AEBA-B955-0B3C-D31CF73733A0}"/>
              </a:ext>
            </a:extLst>
          </p:cNvPr>
          <p:cNvPicPr>
            <a:picLocks noChangeAspect="1"/>
          </p:cNvPicPr>
          <p:nvPr/>
        </p:nvPicPr>
        <p:blipFill>
          <a:blip r:embed="rId5">
            <a:extLst>
              <a:ext uri="{28A0092B-C50C-407E-A947-70E740481C1C}">
                <a14:useLocalDpi xmlns:a14="http://schemas.microsoft.com/office/drawing/2010/main" val="0"/>
              </a:ext>
            </a:extLst>
          </a:blip>
          <a:srcRect l="30782" t="62994" r="38605"/>
          <a:stretch>
            <a:fillRect/>
          </a:stretch>
        </p:blipFill>
        <p:spPr>
          <a:xfrm>
            <a:off x="1900573" y="3488885"/>
            <a:ext cx="3340360" cy="2998129"/>
          </a:xfrm>
          <a:prstGeom prst="rect">
            <a:avLst/>
          </a:prstGeom>
        </p:spPr>
      </p:pic>
      <p:sp>
        <p:nvSpPr>
          <p:cNvPr id="18" name="TextBox 17">
            <a:extLst>
              <a:ext uri="{FF2B5EF4-FFF2-40B4-BE49-F238E27FC236}">
                <a16:creationId xmlns:a16="http://schemas.microsoft.com/office/drawing/2014/main" id="{F176B479-9635-3227-8CD3-CDA5D39A312D}"/>
              </a:ext>
            </a:extLst>
          </p:cNvPr>
          <p:cNvSpPr txBox="1"/>
          <p:nvPr/>
        </p:nvSpPr>
        <p:spPr>
          <a:xfrm>
            <a:off x="1900573" y="5939885"/>
            <a:ext cx="472273" cy="369332"/>
          </a:xfrm>
          <a:prstGeom prst="rect">
            <a:avLst/>
          </a:prstGeom>
          <a:noFill/>
        </p:spPr>
        <p:txBody>
          <a:bodyPr wrap="square" rtlCol="0">
            <a:spAutoFit/>
          </a:bodyPr>
          <a:lstStyle/>
          <a:p>
            <a:r>
              <a:rPr lang="en-US" dirty="0">
                <a:solidFill>
                  <a:schemeClr val="bg1"/>
                </a:solidFill>
              </a:rPr>
              <a:t>4</a:t>
            </a:r>
          </a:p>
        </p:txBody>
      </p:sp>
      <p:pic>
        <p:nvPicPr>
          <p:cNvPr id="20" name="Picture 19">
            <a:extLst>
              <a:ext uri="{FF2B5EF4-FFF2-40B4-BE49-F238E27FC236}">
                <a16:creationId xmlns:a16="http://schemas.microsoft.com/office/drawing/2014/main" id="{DAF90115-DA42-E2BC-165D-A9A5D23C864E}"/>
              </a:ext>
            </a:extLst>
          </p:cNvPr>
          <p:cNvPicPr>
            <a:picLocks noChangeAspect="1"/>
          </p:cNvPicPr>
          <p:nvPr/>
        </p:nvPicPr>
        <p:blipFill>
          <a:blip r:embed="rId6">
            <a:extLst>
              <a:ext uri="{28A0092B-C50C-407E-A947-70E740481C1C}">
                <a14:useLocalDpi xmlns:a14="http://schemas.microsoft.com/office/drawing/2010/main" val="0"/>
              </a:ext>
            </a:extLst>
          </a:blip>
          <a:srcRect l="22619" t="28300" r="29932"/>
          <a:stretch>
            <a:fillRect/>
          </a:stretch>
        </p:blipFill>
        <p:spPr>
          <a:xfrm>
            <a:off x="6416494" y="3337777"/>
            <a:ext cx="3060441" cy="3433612"/>
          </a:xfrm>
          <a:prstGeom prst="rect">
            <a:avLst/>
          </a:prstGeom>
        </p:spPr>
      </p:pic>
      <p:sp>
        <p:nvSpPr>
          <p:cNvPr id="40" name="TextBox 39">
            <a:extLst>
              <a:ext uri="{FF2B5EF4-FFF2-40B4-BE49-F238E27FC236}">
                <a16:creationId xmlns:a16="http://schemas.microsoft.com/office/drawing/2014/main" id="{A79970F4-FCAB-BE02-AEE7-AC2924391268}"/>
              </a:ext>
            </a:extLst>
          </p:cNvPr>
          <p:cNvSpPr txBox="1"/>
          <p:nvPr/>
        </p:nvSpPr>
        <p:spPr>
          <a:xfrm>
            <a:off x="6395057" y="5939885"/>
            <a:ext cx="472273" cy="369332"/>
          </a:xfrm>
          <a:prstGeom prst="rect">
            <a:avLst/>
          </a:prstGeom>
          <a:noFill/>
        </p:spPr>
        <p:txBody>
          <a:bodyPr wrap="square" rtlCol="0">
            <a:spAutoFit/>
          </a:bodyPr>
          <a:lstStyle/>
          <a:p>
            <a:r>
              <a:rPr lang="en-US" dirty="0">
                <a:solidFill>
                  <a:schemeClr val="bg1"/>
                </a:solidFill>
              </a:rPr>
              <a:t>5</a:t>
            </a:r>
          </a:p>
        </p:txBody>
      </p:sp>
    </p:spTree>
    <p:extLst>
      <p:ext uri="{BB962C8B-B14F-4D97-AF65-F5344CB8AC3E}">
        <p14:creationId xmlns:p14="http://schemas.microsoft.com/office/powerpoint/2010/main" val="2288250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6F065-52C5-3FDB-8840-3BC5862B0C22}"/>
              </a:ext>
            </a:extLst>
          </p:cNvPr>
          <p:cNvSpPr>
            <a:spLocks noGrp="1"/>
          </p:cNvSpPr>
          <p:nvPr>
            <p:ph type="title"/>
          </p:nvPr>
        </p:nvSpPr>
        <p:spPr/>
        <p:txBody>
          <a:bodyPr/>
          <a:lstStyle/>
          <a:p>
            <a:r>
              <a:rPr lang="en-US" dirty="0"/>
              <a:t>Loadings of regions onto top 6 PCs</a:t>
            </a:r>
          </a:p>
        </p:txBody>
      </p:sp>
      <p:pic>
        <p:nvPicPr>
          <p:cNvPr id="11" name="Content Placeholder 10">
            <a:extLst>
              <a:ext uri="{FF2B5EF4-FFF2-40B4-BE49-F238E27FC236}">
                <a16:creationId xmlns:a16="http://schemas.microsoft.com/office/drawing/2014/main" id="{89F8993D-11B8-E4C0-A138-FB782903BC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34" y="1460147"/>
            <a:ext cx="3906558" cy="2604372"/>
          </a:xfrm>
          <a:prstGeom prst="rect">
            <a:avLst/>
          </a:prstGeom>
        </p:spPr>
      </p:pic>
      <p:pic>
        <p:nvPicPr>
          <p:cNvPr id="13" name="Picture 12">
            <a:extLst>
              <a:ext uri="{FF2B5EF4-FFF2-40B4-BE49-F238E27FC236}">
                <a16:creationId xmlns:a16="http://schemas.microsoft.com/office/drawing/2014/main" id="{15A0A386-DADC-5924-3A2F-2B0644E38F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4758" y="1460147"/>
            <a:ext cx="3135086" cy="2090057"/>
          </a:xfrm>
          <a:prstGeom prst="rect">
            <a:avLst/>
          </a:prstGeom>
        </p:spPr>
      </p:pic>
      <p:pic>
        <p:nvPicPr>
          <p:cNvPr id="15" name="Picture 14">
            <a:extLst>
              <a:ext uri="{FF2B5EF4-FFF2-40B4-BE49-F238E27FC236}">
                <a16:creationId xmlns:a16="http://schemas.microsoft.com/office/drawing/2014/main" id="{D2733867-AD2B-1DEA-D417-9CC6BEC723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71730" y="1460147"/>
            <a:ext cx="3419528" cy="2279685"/>
          </a:xfrm>
          <a:prstGeom prst="rect">
            <a:avLst/>
          </a:prstGeom>
        </p:spPr>
      </p:pic>
      <p:pic>
        <p:nvPicPr>
          <p:cNvPr id="17" name="Picture 16">
            <a:extLst>
              <a:ext uri="{FF2B5EF4-FFF2-40B4-BE49-F238E27FC236}">
                <a16:creationId xmlns:a16="http://schemas.microsoft.com/office/drawing/2014/main" id="{2859D63D-A508-3668-DB67-C522A3E4C5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234" y="3965509"/>
            <a:ext cx="3791048" cy="2527365"/>
          </a:xfrm>
          <a:prstGeom prst="rect">
            <a:avLst/>
          </a:prstGeom>
        </p:spPr>
      </p:pic>
      <p:pic>
        <p:nvPicPr>
          <p:cNvPr id="19" name="Picture 18">
            <a:extLst>
              <a:ext uri="{FF2B5EF4-FFF2-40B4-BE49-F238E27FC236}">
                <a16:creationId xmlns:a16="http://schemas.microsoft.com/office/drawing/2014/main" id="{B0FB8F17-D6E6-8952-3DE1-81C34666EB3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37498" y="3965509"/>
            <a:ext cx="3681217" cy="2454145"/>
          </a:xfrm>
          <a:prstGeom prst="rect">
            <a:avLst/>
          </a:prstGeom>
        </p:spPr>
      </p:pic>
      <p:pic>
        <p:nvPicPr>
          <p:cNvPr id="21" name="Picture 20">
            <a:extLst>
              <a:ext uri="{FF2B5EF4-FFF2-40B4-BE49-F238E27FC236}">
                <a16:creationId xmlns:a16="http://schemas.microsoft.com/office/drawing/2014/main" id="{C37E9A37-7DFA-24F7-4177-672CA627E0A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14191" y="3965509"/>
            <a:ext cx="3906558" cy="2604372"/>
          </a:xfrm>
          <a:prstGeom prst="rect">
            <a:avLst/>
          </a:prstGeom>
        </p:spPr>
      </p:pic>
    </p:spTree>
    <p:extLst>
      <p:ext uri="{BB962C8B-B14F-4D97-AF65-F5344CB8AC3E}">
        <p14:creationId xmlns:p14="http://schemas.microsoft.com/office/powerpoint/2010/main" val="739913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4CB10-57E6-5E57-F8B6-1FA1741F77E8}"/>
              </a:ext>
            </a:extLst>
          </p:cNvPr>
          <p:cNvSpPr>
            <a:spLocks noGrp="1"/>
          </p:cNvSpPr>
          <p:nvPr>
            <p:ph type="title"/>
          </p:nvPr>
        </p:nvSpPr>
        <p:spPr/>
        <p:txBody>
          <a:bodyPr/>
          <a:lstStyle/>
          <a:p>
            <a:r>
              <a:rPr lang="en-US" dirty="0"/>
              <a:t>UMAP of </a:t>
            </a:r>
            <a:r>
              <a:rPr lang="en-US" dirty="0" err="1"/>
              <a:t>sPCA’d</a:t>
            </a:r>
            <a:r>
              <a:rPr lang="en-US" dirty="0"/>
              <a:t> data, clusters aren’t super distinct</a:t>
            </a:r>
          </a:p>
        </p:txBody>
      </p:sp>
      <p:pic>
        <p:nvPicPr>
          <p:cNvPr id="5" name="Content Placeholder 4">
            <a:extLst>
              <a:ext uri="{FF2B5EF4-FFF2-40B4-BE49-F238E27FC236}">
                <a16:creationId xmlns:a16="http://schemas.microsoft.com/office/drawing/2014/main" id="{24D849CD-3910-2286-FBCA-4BB6E9B680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9049" y="1690688"/>
            <a:ext cx="7193902" cy="4951389"/>
          </a:xfrm>
          <a:prstGeom prst="rect">
            <a:avLst/>
          </a:prstGeom>
        </p:spPr>
      </p:pic>
    </p:spTree>
    <p:extLst>
      <p:ext uri="{BB962C8B-B14F-4D97-AF65-F5344CB8AC3E}">
        <p14:creationId xmlns:p14="http://schemas.microsoft.com/office/powerpoint/2010/main" val="4284894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ED381-8252-E6B5-12BB-D021B23D266B}"/>
              </a:ext>
            </a:extLst>
          </p:cNvPr>
          <p:cNvSpPr>
            <a:spLocks noGrp="1"/>
          </p:cNvSpPr>
          <p:nvPr>
            <p:ph type="title"/>
          </p:nvPr>
        </p:nvSpPr>
        <p:spPr/>
        <p:txBody>
          <a:bodyPr/>
          <a:lstStyle/>
          <a:p>
            <a:r>
              <a:rPr lang="en-US" dirty="0"/>
              <a:t>Grouping regions by clustered correlations</a:t>
            </a:r>
          </a:p>
        </p:txBody>
      </p:sp>
      <p:pic>
        <p:nvPicPr>
          <p:cNvPr id="5" name="Picture 4">
            <a:extLst>
              <a:ext uri="{FF2B5EF4-FFF2-40B4-BE49-F238E27FC236}">
                <a16:creationId xmlns:a16="http://schemas.microsoft.com/office/drawing/2014/main" id="{A9634458-6FF0-796D-1F1F-E8DCA57D8329}"/>
              </a:ext>
            </a:extLst>
          </p:cNvPr>
          <p:cNvPicPr>
            <a:picLocks noChangeAspect="1"/>
          </p:cNvPicPr>
          <p:nvPr/>
        </p:nvPicPr>
        <p:blipFill>
          <a:blip r:embed="rId3"/>
          <a:stretch>
            <a:fillRect/>
          </a:stretch>
        </p:blipFill>
        <p:spPr>
          <a:xfrm>
            <a:off x="2471030" y="1364216"/>
            <a:ext cx="7205909" cy="5232527"/>
          </a:xfrm>
          <a:prstGeom prst="rect">
            <a:avLst/>
          </a:prstGeom>
        </p:spPr>
      </p:pic>
      <p:sp>
        <p:nvSpPr>
          <p:cNvPr id="7" name="TextBox 6">
            <a:extLst>
              <a:ext uri="{FF2B5EF4-FFF2-40B4-BE49-F238E27FC236}">
                <a16:creationId xmlns:a16="http://schemas.microsoft.com/office/drawing/2014/main" id="{FA563D8D-A6EA-5A2E-1DCF-02B3DBF7F418}"/>
              </a:ext>
            </a:extLst>
          </p:cNvPr>
          <p:cNvSpPr txBox="1"/>
          <p:nvPr/>
        </p:nvSpPr>
        <p:spPr>
          <a:xfrm>
            <a:off x="1763486" y="3244334"/>
            <a:ext cx="945891" cy="369332"/>
          </a:xfrm>
          <a:prstGeom prst="rect">
            <a:avLst/>
          </a:prstGeom>
          <a:noFill/>
        </p:spPr>
        <p:txBody>
          <a:bodyPr wrap="square" rtlCol="0">
            <a:spAutoFit/>
          </a:bodyPr>
          <a:lstStyle/>
          <a:p>
            <a:r>
              <a:rPr lang="en-US" dirty="0"/>
              <a:t>regions</a:t>
            </a:r>
          </a:p>
        </p:txBody>
      </p:sp>
      <p:sp>
        <p:nvSpPr>
          <p:cNvPr id="9" name="TextBox 8">
            <a:extLst>
              <a:ext uri="{FF2B5EF4-FFF2-40B4-BE49-F238E27FC236}">
                <a16:creationId xmlns:a16="http://schemas.microsoft.com/office/drawing/2014/main" id="{667FAA6E-AA03-2C8A-3149-CE67867152B4}"/>
              </a:ext>
            </a:extLst>
          </p:cNvPr>
          <p:cNvSpPr txBox="1"/>
          <p:nvPr/>
        </p:nvSpPr>
        <p:spPr>
          <a:xfrm>
            <a:off x="5588551" y="6488668"/>
            <a:ext cx="970869" cy="369332"/>
          </a:xfrm>
          <a:prstGeom prst="rect">
            <a:avLst/>
          </a:prstGeom>
          <a:noFill/>
        </p:spPr>
        <p:txBody>
          <a:bodyPr wrap="square" rtlCol="0">
            <a:spAutoFit/>
          </a:bodyPr>
          <a:lstStyle/>
          <a:p>
            <a:r>
              <a:rPr lang="en-US" dirty="0"/>
              <a:t>regions</a:t>
            </a:r>
          </a:p>
        </p:txBody>
      </p:sp>
      <p:sp>
        <p:nvSpPr>
          <p:cNvPr id="11" name="Rectangle 10">
            <a:extLst>
              <a:ext uri="{FF2B5EF4-FFF2-40B4-BE49-F238E27FC236}">
                <a16:creationId xmlns:a16="http://schemas.microsoft.com/office/drawing/2014/main" id="{C2B15FFD-31A8-A6BA-8346-EBA289BABFBB}"/>
              </a:ext>
            </a:extLst>
          </p:cNvPr>
          <p:cNvSpPr/>
          <p:nvPr/>
        </p:nvSpPr>
        <p:spPr>
          <a:xfrm>
            <a:off x="3125755" y="1586204"/>
            <a:ext cx="791401" cy="66407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6AEA36E-AE52-0AB3-2A05-DF603109CBC6}"/>
              </a:ext>
            </a:extLst>
          </p:cNvPr>
          <p:cNvSpPr/>
          <p:nvPr/>
        </p:nvSpPr>
        <p:spPr>
          <a:xfrm>
            <a:off x="3917156" y="2250281"/>
            <a:ext cx="169069" cy="13835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E84210-F7E5-FB81-838F-FA0E7CB214A8}"/>
              </a:ext>
            </a:extLst>
          </p:cNvPr>
          <p:cNvSpPr/>
          <p:nvPr/>
        </p:nvSpPr>
        <p:spPr>
          <a:xfrm>
            <a:off x="4105469" y="2388637"/>
            <a:ext cx="531845" cy="45038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23BFAA9-1D3D-25B2-18F2-3BCD875F1202}"/>
              </a:ext>
            </a:extLst>
          </p:cNvPr>
          <p:cNvSpPr/>
          <p:nvPr/>
        </p:nvSpPr>
        <p:spPr>
          <a:xfrm>
            <a:off x="4637314" y="2839018"/>
            <a:ext cx="675255" cy="57331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348E998-5CE8-0136-E1B2-AC273F240A33}"/>
              </a:ext>
            </a:extLst>
          </p:cNvPr>
          <p:cNvSpPr/>
          <p:nvPr/>
        </p:nvSpPr>
        <p:spPr>
          <a:xfrm>
            <a:off x="7865268" y="5512594"/>
            <a:ext cx="516731" cy="4286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72061AF-5F44-CB7D-1E45-93E062DF3AC2}"/>
              </a:ext>
            </a:extLst>
          </p:cNvPr>
          <p:cNvSpPr/>
          <p:nvPr/>
        </p:nvSpPr>
        <p:spPr>
          <a:xfrm>
            <a:off x="7605713" y="5300663"/>
            <a:ext cx="257175" cy="2143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4791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71BAF-F328-7D65-0821-D7D8850CF915}"/>
              </a:ext>
            </a:extLst>
          </p:cNvPr>
          <p:cNvSpPr>
            <a:spLocks noGrp="1"/>
          </p:cNvSpPr>
          <p:nvPr>
            <p:ph type="title"/>
          </p:nvPr>
        </p:nvSpPr>
        <p:spPr>
          <a:xfrm>
            <a:off x="838200" y="0"/>
            <a:ext cx="10515600" cy="1325563"/>
          </a:xfrm>
        </p:spPr>
        <p:txBody>
          <a:bodyPr/>
          <a:lstStyle/>
          <a:p>
            <a:r>
              <a:rPr lang="en-US" dirty="0"/>
              <a:t>Lump a bunch of regions together, keep relevant ones separate</a:t>
            </a:r>
          </a:p>
        </p:txBody>
      </p:sp>
      <p:pic>
        <p:nvPicPr>
          <p:cNvPr id="23" name="Picture 22">
            <a:extLst>
              <a:ext uri="{FF2B5EF4-FFF2-40B4-BE49-F238E27FC236}">
                <a16:creationId xmlns:a16="http://schemas.microsoft.com/office/drawing/2014/main" id="{47163FF9-2094-6E16-79E8-2EBC0ABF7C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9476" y="1236608"/>
            <a:ext cx="5525418" cy="4931288"/>
          </a:xfrm>
          <a:prstGeom prst="rect">
            <a:avLst/>
          </a:prstGeom>
        </p:spPr>
      </p:pic>
      <p:pic>
        <p:nvPicPr>
          <p:cNvPr id="25" name="Picture 24">
            <a:extLst>
              <a:ext uri="{FF2B5EF4-FFF2-40B4-BE49-F238E27FC236}">
                <a16:creationId xmlns:a16="http://schemas.microsoft.com/office/drawing/2014/main" id="{71F6D481-C12A-313C-A65E-4CEB7AF17E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734" y="1325563"/>
            <a:ext cx="6345742" cy="4842333"/>
          </a:xfrm>
          <a:prstGeom prst="rect">
            <a:avLst/>
          </a:prstGeom>
        </p:spPr>
      </p:pic>
      <p:sp>
        <p:nvSpPr>
          <p:cNvPr id="26" name="TextBox 25">
            <a:extLst>
              <a:ext uri="{FF2B5EF4-FFF2-40B4-BE49-F238E27FC236}">
                <a16:creationId xmlns:a16="http://schemas.microsoft.com/office/drawing/2014/main" id="{1CE3138E-41A8-9591-86A3-23990744AC61}"/>
              </a:ext>
            </a:extLst>
          </p:cNvPr>
          <p:cNvSpPr txBox="1"/>
          <p:nvPr/>
        </p:nvSpPr>
        <p:spPr>
          <a:xfrm>
            <a:off x="7806144" y="1051942"/>
            <a:ext cx="4012163" cy="369332"/>
          </a:xfrm>
          <a:prstGeom prst="rect">
            <a:avLst/>
          </a:prstGeom>
          <a:noFill/>
        </p:spPr>
        <p:txBody>
          <a:bodyPr wrap="square" rtlCol="0">
            <a:spAutoFit/>
          </a:bodyPr>
          <a:lstStyle/>
          <a:p>
            <a:r>
              <a:rPr lang="en-US" dirty="0"/>
              <a:t>Total length (um) in region groups</a:t>
            </a:r>
          </a:p>
        </p:txBody>
      </p:sp>
    </p:spTree>
    <p:extLst>
      <p:ext uri="{BB962C8B-B14F-4D97-AF65-F5344CB8AC3E}">
        <p14:creationId xmlns:p14="http://schemas.microsoft.com/office/powerpoint/2010/main" val="836739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95800-717A-AB43-390F-A6C8936D2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58B29-60FE-F06E-11F3-323EDDAD31D1}"/>
              </a:ext>
            </a:extLst>
          </p:cNvPr>
          <p:cNvSpPr>
            <a:spLocks noGrp="1"/>
          </p:cNvSpPr>
          <p:nvPr>
            <p:ph type="title"/>
          </p:nvPr>
        </p:nvSpPr>
        <p:spPr>
          <a:xfrm>
            <a:off x="838200" y="0"/>
            <a:ext cx="10515600" cy="1325563"/>
          </a:xfrm>
        </p:spPr>
        <p:txBody>
          <a:bodyPr/>
          <a:lstStyle/>
          <a:p>
            <a:r>
              <a:rPr lang="en-US" dirty="0"/>
              <a:t>Cell by cell clustering on combined region lengths</a:t>
            </a:r>
          </a:p>
        </p:txBody>
      </p:sp>
      <p:pic>
        <p:nvPicPr>
          <p:cNvPr id="4" name="Picture 3">
            <a:extLst>
              <a:ext uri="{FF2B5EF4-FFF2-40B4-BE49-F238E27FC236}">
                <a16:creationId xmlns:a16="http://schemas.microsoft.com/office/drawing/2014/main" id="{2B256869-4393-F8D3-5F32-63A49CB0A3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7279" y="749835"/>
            <a:ext cx="8274700" cy="5997806"/>
          </a:xfrm>
          <a:prstGeom prst="rect">
            <a:avLst/>
          </a:prstGeom>
        </p:spPr>
      </p:pic>
    </p:spTree>
    <p:extLst>
      <p:ext uri="{BB962C8B-B14F-4D97-AF65-F5344CB8AC3E}">
        <p14:creationId xmlns:p14="http://schemas.microsoft.com/office/powerpoint/2010/main" val="4159448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B4225-DBC5-A1C3-C967-EDA8903D9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9641C-0904-681B-5014-22DBB4879B5E}"/>
              </a:ext>
            </a:extLst>
          </p:cNvPr>
          <p:cNvSpPr>
            <a:spLocks noGrp="1"/>
          </p:cNvSpPr>
          <p:nvPr>
            <p:ph type="title"/>
          </p:nvPr>
        </p:nvSpPr>
        <p:spPr>
          <a:xfrm>
            <a:off x="838200" y="0"/>
            <a:ext cx="10515600" cy="1325563"/>
          </a:xfrm>
        </p:spPr>
        <p:txBody>
          <a:bodyPr/>
          <a:lstStyle/>
          <a:p>
            <a:r>
              <a:rPr lang="en-US" dirty="0"/>
              <a:t>Cell by cell clustering on combined region lengths</a:t>
            </a:r>
          </a:p>
        </p:txBody>
      </p:sp>
      <p:pic>
        <p:nvPicPr>
          <p:cNvPr id="4" name="Picture 3">
            <a:extLst>
              <a:ext uri="{FF2B5EF4-FFF2-40B4-BE49-F238E27FC236}">
                <a16:creationId xmlns:a16="http://schemas.microsoft.com/office/drawing/2014/main" id="{AB02C292-C0CE-67A3-D1FD-F6B698A431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7279" y="749835"/>
            <a:ext cx="8274700" cy="5997806"/>
          </a:xfrm>
          <a:prstGeom prst="rect">
            <a:avLst/>
          </a:prstGeom>
        </p:spPr>
      </p:pic>
      <p:sp>
        <p:nvSpPr>
          <p:cNvPr id="3" name="Rectangle 2">
            <a:extLst>
              <a:ext uri="{FF2B5EF4-FFF2-40B4-BE49-F238E27FC236}">
                <a16:creationId xmlns:a16="http://schemas.microsoft.com/office/drawing/2014/main" id="{0037BF9D-817E-82C2-A9A7-81683AEC3987}"/>
              </a:ext>
            </a:extLst>
          </p:cNvPr>
          <p:cNvSpPr/>
          <p:nvPr/>
        </p:nvSpPr>
        <p:spPr>
          <a:xfrm>
            <a:off x="3331779" y="966953"/>
            <a:ext cx="1156245" cy="969798"/>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72B70DF-50DF-11D9-E4F1-00E46E333CF8}"/>
              </a:ext>
            </a:extLst>
          </p:cNvPr>
          <p:cNvSpPr/>
          <p:nvPr/>
        </p:nvSpPr>
        <p:spPr>
          <a:xfrm>
            <a:off x="4465333" y="1935329"/>
            <a:ext cx="373367" cy="296696"/>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7898508-2E19-122F-4CE2-23599CE6F27F}"/>
              </a:ext>
            </a:extLst>
          </p:cNvPr>
          <p:cNvSpPr/>
          <p:nvPr/>
        </p:nvSpPr>
        <p:spPr>
          <a:xfrm>
            <a:off x="5551183" y="2821153"/>
            <a:ext cx="1544942" cy="126507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C36118F-2EDE-FC7C-DAC4-6FC4C6106D27}"/>
              </a:ext>
            </a:extLst>
          </p:cNvPr>
          <p:cNvSpPr/>
          <p:nvPr/>
        </p:nvSpPr>
        <p:spPr>
          <a:xfrm>
            <a:off x="7096126" y="4086224"/>
            <a:ext cx="1176338" cy="98822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1F2E507-49B6-EA47-1C34-83843FE891E0}"/>
              </a:ext>
            </a:extLst>
          </p:cNvPr>
          <p:cNvSpPr txBox="1"/>
          <p:nvPr/>
        </p:nvSpPr>
        <p:spPr>
          <a:xfrm>
            <a:off x="682978" y="1805490"/>
            <a:ext cx="1082351" cy="2585323"/>
          </a:xfrm>
          <a:prstGeom prst="rect">
            <a:avLst/>
          </a:prstGeom>
          <a:noFill/>
        </p:spPr>
        <p:txBody>
          <a:bodyPr wrap="square" rtlCol="0">
            <a:spAutoFit/>
          </a:bodyPr>
          <a:lstStyle/>
          <a:p>
            <a:r>
              <a:rPr lang="en-US" dirty="0">
                <a:solidFill>
                  <a:schemeClr val="accent3"/>
                </a:solidFill>
              </a:rPr>
              <a:t>Cluster 1</a:t>
            </a:r>
          </a:p>
          <a:p>
            <a:r>
              <a:rPr lang="en-US" dirty="0">
                <a:solidFill>
                  <a:schemeClr val="accent4"/>
                </a:solidFill>
              </a:rPr>
              <a:t>Cluster 2</a:t>
            </a:r>
          </a:p>
          <a:p>
            <a:r>
              <a:rPr lang="en-US" dirty="0"/>
              <a:t>Cluster 3</a:t>
            </a:r>
          </a:p>
          <a:p>
            <a:r>
              <a:rPr lang="en-US" dirty="0">
                <a:solidFill>
                  <a:schemeClr val="accent5"/>
                </a:solidFill>
              </a:rPr>
              <a:t>Cluster 4</a:t>
            </a:r>
          </a:p>
          <a:p>
            <a:r>
              <a:rPr lang="en-US" dirty="0">
                <a:solidFill>
                  <a:schemeClr val="bg1">
                    <a:lumMod val="50000"/>
                  </a:schemeClr>
                </a:solidFill>
              </a:rPr>
              <a:t>Cluster 5</a:t>
            </a:r>
          </a:p>
          <a:p>
            <a:r>
              <a:rPr lang="en-US" dirty="0">
                <a:solidFill>
                  <a:schemeClr val="accent2"/>
                </a:solidFill>
              </a:rPr>
              <a:t>Cluster 6</a:t>
            </a:r>
          </a:p>
          <a:p>
            <a:r>
              <a:rPr lang="en-US" dirty="0">
                <a:solidFill>
                  <a:srgbClr val="FFC000"/>
                </a:solidFill>
              </a:rPr>
              <a:t>Cluster 7</a:t>
            </a:r>
          </a:p>
          <a:p>
            <a:endParaRPr lang="en-US" dirty="0"/>
          </a:p>
          <a:p>
            <a:endParaRPr lang="en-US" dirty="0">
              <a:solidFill>
                <a:schemeClr val="accent3"/>
              </a:solidFill>
            </a:endParaRPr>
          </a:p>
        </p:txBody>
      </p:sp>
      <p:sp>
        <p:nvSpPr>
          <p:cNvPr id="11" name="Rectangle 10">
            <a:extLst>
              <a:ext uri="{FF2B5EF4-FFF2-40B4-BE49-F238E27FC236}">
                <a16:creationId xmlns:a16="http://schemas.microsoft.com/office/drawing/2014/main" id="{B62AAF0C-612C-8F9A-5D1E-CC157040F5BD}"/>
              </a:ext>
            </a:extLst>
          </p:cNvPr>
          <p:cNvSpPr/>
          <p:nvPr/>
        </p:nvSpPr>
        <p:spPr>
          <a:xfrm>
            <a:off x="8272464" y="5074444"/>
            <a:ext cx="1131886" cy="923131"/>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F0EAEF1-F72F-3B1C-94F2-058188B66E94}"/>
              </a:ext>
            </a:extLst>
          </p:cNvPr>
          <p:cNvSpPr/>
          <p:nvPr/>
        </p:nvSpPr>
        <p:spPr>
          <a:xfrm>
            <a:off x="4816475" y="2203450"/>
            <a:ext cx="276225" cy="238125"/>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9D2EAD4-06BF-2BC8-FCE3-2D89E73539B9}"/>
              </a:ext>
            </a:extLst>
          </p:cNvPr>
          <p:cNvSpPr/>
          <p:nvPr/>
        </p:nvSpPr>
        <p:spPr>
          <a:xfrm>
            <a:off x="5357813" y="2652713"/>
            <a:ext cx="226218" cy="18573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F6D2D13-351E-799A-A733-179B37378B8A}"/>
              </a:ext>
            </a:extLst>
          </p:cNvPr>
          <p:cNvSpPr/>
          <p:nvPr/>
        </p:nvSpPr>
        <p:spPr>
          <a:xfrm>
            <a:off x="5119688" y="2462213"/>
            <a:ext cx="258928" cy="219869"/>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7165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CFF0C9F-7945-AE52-48E9-716605FBE80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1638" t="57493" r="29331" b="5718"/>
          <a:stretch>
            <a:fillRect/>
          </a:stretch>
        </p:blipFill>
        <p:spPr>
          <a:xfrm>
            <a:off x="118333" y="150607"/>
            <a:ext cx="4090956" cy="2302137"/>
          </a:xfrm>
          <a:prstGeom prst="rect">
            <a:avLst/>
          </a:prstGeom>
        </p:spPr>
      </p:pic>
      <p:sp>
        <p:nvSpPr>
          <p:cNvPr id="6" name="TextBox 5">
            <a:extLst>
              <a:ext uri="{FF2B5EF4-FFF2-40B4-BE49-F238E27FC236}">
                <a16:creationId xmlns:a16="http://schemas.microsoft.com/office/drawing/2014/main" id="{112B53FB-A6E1-A489-EC40-B527152E327A}"/>
              </a:ext>
            </a:extLst>
          </p:cNvPr>
          <p:cNvSpPr txBox="1"/>
          <p:nvPr/>
        </p:nvSpPr>
        <p:spPr>
          <a:xfrm>
            <a:off x="225911" y="1979407"/>
            <a:ext cx="570156" cy="369332"/>
          </a:xfrm>
          <a:prstGeom prst="rect">
            <a:avLst/>
          </a:prstGeom>
          <a:noFill/>
        </p:spPr>
        <p:txBody>
          <a:bodyPr wrap="square" rtlCol="0">
            <a:spAutoFit/>
          </a:bodyPr>
          <a:lstStyle/>
          <a:p>
            <a:r>
              <a:rPr lang="en-US" dirty="0">
                <a:solidFill>
                  <a:schemeClr val="accent3"/>
                </a:solidFill>
              </a:rPr>
              <a:t>1</a:t>
            </a:r>
          </a:p>
        </p:txBody>
      </p:sp>
      <p:pic>
        <p:nvPicPr>
          <p:cNvPr id="8" name="Picture 7">
            <a:extLst>
              <a:ext uri="{FF2B5EF4-FFF2-40B4-BE49-F238E27FC236}">
                <a16:creationId xmlns:a16="http://schemas.microsoft.com/office/drawing/2014/main" id="{80A92199-FBD4-746E-E898-232AA58CDD52}"/>
              </a:ext>
            </a:extLst>
          </p:cNvPr>
          <p:cNvPicPr>
            <a:picLocks noChangeAspect="1"/>
          </p:cNvPicPr>
          <p:nvPr/>
        </p:nvPicPr>
        <p:blipFill>
          <a:blip r:embed="rId3">
            <a:extLst>
              <a:ext uri="{28A0092B-C50C-407E-A947-70E740481C1C}">
                <a14:useLocalDpi xmlns:a14="http://schemas.microsoft.com/office/drawing/2010/main" val="0"/>
              </a:ext>
            </a:extLst>
          </a:blip>
          <a:srcRect l="24863" t="50000" r="31608" b="2196"/>
          <a:stretch>
            <a:fillRect/>
          </a:stretch>
        </p:blipFill>
        <p:spPr>
          <a:xfrm>
            <a:off x="4316867" y="150607"/>
            <a:ext cx="3980330" cy="3278393"/>
          </a:xfrm>
          <a:prstGeom prst="rect">
            <a:avLst/>
          </a:prstGeom>
        </p:spPr>
      </p:pic>
      <p:sp>
        <p:nvSpPr>
          <p:cNvPr id="10" name="TextBox 9">
            <a:extLst>
              <a:ext uri="{FF2B5EF4-FFF2-40B4-BE49-F238E27FC236}">
                <a16:creationId xmlns:a16="http://schemas.microsoft.com/office/drawing/2014/main" id="{227E1A41-AD62-9A93-C301-76175CB9C025}"/>
              </a:ext>
            </a:extLst>
          </p:cNvPr>
          <p:cNvSpPr txBox="1"/>
          <p:nvPr/>
        </p:nvSpPr>
        <p:spPr>
          <a:xfrm>
            <a:off x="4316867" y="2875385"/>
            <a:ext cx="570156" cy="369332"/>
          </a:xfrm>
          <a:prstGeom prst="rect">
            <a:avLst/>
          </a:prstGeom>
          <a:noFill/>
        </p:spPr>
        <p:txBody>
          <a:bodyPr wrap="square" rtlCol="0">
            <a:spAutoFit/>
          </a:bodyPr>
          <a:lstStyle/>
          <a:p>
            <a:r>
              <a:rPr lang="en-US" dirty="0">
                <a:solidFill>
                  <a:schemeClr val="accent4"/>
                </a:solidFill>
              </a:rPr>
              <a:t>2</a:t>
            </a:r>
          </a:p>
        </p:txBody>
      </p:sp>
      <p:pic>
        <p:nvPicPr>
          <p:cNvPr id="12" name="Picture 11">
            <a:extLst>
              <a:ext uri="{FF2B5EF4-FFF2-40B4-BE49-F238E27FC236}">
                <a16:creationId xmlns:a16="http://schemas.microsoft.com/office/drawing/2014/main" id="{B52C3B8D-FC25-5910-AEFF-4FFB2A03FF92}"/>
              </a:ext>
            </a:extLst>
          </p:cNvPr>
          <p:cNvPicPr>
            <a:picLocks noChangeAspect="1"/>
          </p:cNvPicPr>
          <p:nvPr/>
        </p:nvPicPr>
        <p:blipFill>
          <a:blip r:embed="rId4">
            <a:extLst>
              <a:ext uri="{28A0092B-C50C-407E-A947-70E740481C1C}">
                <a14:useLocalDpi xmlns:a14="http://schemas.microsoft.com/office/drawing/2010/main" val="0"/>
              </a:ext>
            </a:extLst>
          </a:blip>
          <a:srcRect l="33334" t="48792" r="40842" b="-1"/>
          <a:stretch>
            <a:fillRect/>
          </a:stretch>
        </p:blipFill>
        <p:spPr>
          <a:xfrm>
            <a:off x="8932985" y="0"/>
            <a:ext cx="2703007" cy="4020002"/>
          </a:xfrm>
          <a:prstGeom prst="rect">
            <a:avLst/>
          </a:prstGeom>
        </p:spPr>
      </p:pic>
      <p:sp>
        <p:nvSpPr>
          <p:cNvPr id="14" name="TextBox 13">
            <a:extLst>
              <a:ext uri="{FF2B5EF4-FFF2-40B4-BE49-F238E27FC236}">
                <a16:creationId xmlns:a16="http://schemas.microsoft.com/office/drawing/2014/main" id="{C3DF6AEE-C453-E383-0CB3-C628CAA52ED6}"/>
              </a:ext>
            </a:extLst>
          </p:cNvPr>
          <p:cNvSpPr txBox="1"/>
          <p:nvPr/>
        </p:nvSpPr>
        <p:spPr>
          <a:xfrm>
            <a:off x="8932985" y="3429000"/>
            <a:ext cx="570156" cy="369332"/>
          </a:xfrm>
          <a:prstGeom prst="rect">
            <a:avLst/>
          </a:prstGeom>
          <a:noFill/>
        </p:spPr>
        <p:txBody>
          <a:bodyPr wrap="square" rtlCol="0">
            <a:spAutoFit/>
          </a:bodyPr>
          <a:lstStyle/>
          <a:p>
            <a:r>
              <a:rPr lang="en-US" dirty="0">
                <a:solidFill>
                  <a:schemeClr val="bg1"/>
                </a:solidFill>
              </a:rPr>
              <a:t>3</a:t>
            </a:r>
          </a:p>
        </p:txBody>
      </p:sp>
      <p:pic>
        <p:nvPicPr>
          <p:cNvPr id="16" name="Picture 15">
            <a:extLst>
              <a:ext uri="{FF2B5EF4-FFF2-40B4-BE49-F238E27FC236}">
                <a16:creationId xmlns:a16="http://schemas.microsoft.com/office/drawing/2014/main" id="{57A26516-383C-BFA7-A40E-468FAFB45C2E}"/>
              </a:ext>
            </a:extLst>
          </p:cNvPr>
          <p:cNvPicPr>
            <a:picLocks noChangeAspect="1"/>
          </p:cNvPicPr>
          <p:nvPr/>
        </p:nvPicPr>
        <p:blipFill>
          <a:blip r:embed="rId5">
            <a:extLst>
              <a:ext uri="{28A0092B-C50C-407E-A947-70E740481C1C}">
                <a14:useLocalDpi xmlns:a14="http://schemas.microsoft.com/office/drawing/2010/main" val="0"/>
              </a:ext>
            </a:extLst>
          </a:blip>
          <a:srcRect l="32674" t="64761" r="39304" b="4469"/>
          <a:stretch>
            <a:fillRect/>
          </a:stretch>
        </p:blipFill>
        <p:spPr>
          <a:xfrm>
            <a:off x="225910" y="3428999"/>
            <a:ext cx="3723091" cy="3066075"/>
          </a:xfrm>
          <a:prstGeom prst="rect">
            <a:avLst/>
          </a:prstGeom>
        </p:spPr>
      </p:pic>
      <p:sp>
        <p:nvSpPr>
          <p:cNvPr id="18" name="TextBox 17">
            <a:extLst>
              <a:ext uri="{FF2B5EF4-FFF2-40B4-BE49-F238E27FC236}">
                <a16:creationId xmlns:a16="http://schemas.microsoft.com/office/drawing/2014/main" id="{F2925D81-AD7E-6CC8-F293-D71562253041}"/>
              </a:ext>
            </a:extLst>
          </p:cNvPr>
          <p:cNvSpPr txBox="1"/>
          <p:nvPr/>
        </p:nvSpPr>
        <p:spPr>
          <a:xfrm>
            <a:off x="225911" y="6125742"/>
            <a:ext cx="570156" cy="369332"/>
          </a:xfrm>
          <a:prstGeom prst="rect">
            <a:avLst/>
          </a:prstGeom>
          <a:noFill/>
        </p:spPr>
        <p:txBody>
          <a:bodyPr wrap="square" rtlCol="0">
            <a:spAutoFit/>
          </a:bodyPr>
          <a:lstStyle/>
          <a:p>
            <a:r>
              <a:rPr lang="en-US" dirty="0">
                <a:solidFill>
                  <a:schemeClr val="accent5"/>
                </a:solidFill>
              </a:rPr>
              <a:t>4</a:t>
            </a:r>
          </a:p>
        </p:txBody>
      </p:sp>
      <p:pic>
        <p:nvPicPr>
          <p:cNvPr id="20" name="Picture 19">
            <a:extLst>
              <a:ext uri="{FF2B5EF4-FFF2-40B4-BE49-F238E27FC236}">
                <a16:creationId xmlns:a16="http://schemas.microsoft.com/office/drawing/2014/main" id="{416ADF3C-43A9-C7F3-1F57-E79076D12055}"/>
              </a:ext>
            </a:extLst>
          </p:cNvPr>
          <p:cNvPicPr>
            <a:picLocks noChangeAspect="1"/>
          </p:cNvPicPr>
          <p:nvPr/>
        </p:nvPicPr>
        <p:blipFill>
          <a:blip r:embed="rId6">
            <a:extLst>
              <a:ext uri="{28A0092B-C50C-407E-A947-70E740481C1C}">
                <a14:useLocalDpi xmlns:a14="http://schemas.microsoft.com/office/drawing/2010/main" val="0"/>
              </a:ext>
            </a:extLst>
          </a:blip>
          <a:srcRect l="34652" t="41382" r="41172"/>
          <a:stretch>
            <a:fillRect/>
          </a:stretch>
        </p:blipFill>
        <p:spPr>
          <a:xfrm>
            <a:off x="4378056" y="3428999"/>
            <a:ext cx="1885642" cy="3429001"/>
          </a:xfrm>
          <a:prstGeom prst="rect">
            <a:avLst/>
          </a:prstGeom>
        </p:spPr>
      </p:pic>
      <p:sp>
        <p:nvSpPr>
          <p:cNvPr id="22" name="TextBox 21">
            <a:extLst>
              <a:ext uri="{FF2B5EF4-FFF2-40B4-BE49-F238E27FC236}">
                <a16:creationId xmlns:a16="http://schemas.microsoft.com/office/drawing/2014/main" id="{862B9D69-B5BA-C6DF-CEEF-EF013E372F50}"/>
              </a:ext>
            </a:extLst>
          </p:cNvPr>
          <p:cNvSpPr txBox="1"/>
          <p:nvPr/>
        </p:nvSpPr>
        <p:spPr>
          <a:xfrm>
            <a:off x="4385505" y="6304003"/>
            <a:ext cx="570156" cy="369332"/>
          </a:xfrm>
          <a:prstGeom prst="rect">
            <a:avLst/>
          </a:prstGeom>
          <a:noFill/>
        </p:spPr>
        <p:txBody>
          <a:bodyPr wrap="square" rtlCol="0">
            <a:spAutoFit/>
          </a:bodyPr>
          <a:lstStyle/>
          <a:p>
            <a:r>
              <a:rPr lang="en-US" dirty="0">
                <a:solidFill>
                  <a:schemeClr val="bg1">
                    <a:lumMod val="50000"/>
                  </a:schemeClr>
                </a:solidFill>
              </a:rPr>
              <a:t>5</a:t>
            </a:r>
          </a:p>
        </p:txBody>
      </p:sp>
      <p:pic>
        <p:nvPicPr>
          <p:cNvPr id="24" name="Picture 23">
            <a:extLst>
              <a:ext uri="{FF2B5EF4-FFF2-40B4-BE49-F238E27FC236}">
                <a16:creationId xmlns:a16="http://schemas.microsoft.com/office/drawing/2014/main" id="{538CDCEE-078A-3508-4B49-93C2BD113986}"/>
              </a:ext>
            </a:extLst>
          </p:cNvPr>
          <p:cNvPicPr>
            <a:picLocks noChangeAspect="1"/>
          </p:cNvPicPr>
          <p:nvPr/>
        </p:nvPicPr>
        <p:blipFill>
          <a:blip r:embed="rId7">
            <a:extLst>
              <a:ext uri="{28A0092B-C50C-407E-A947-70E740481C1C}">
                <a14:useLocalDpi xmlns:a14="http://schemas.microsoft.com/office/drawing/2010/main" val="0"/>
              </a:ext>
            </a:extLst>
          </a:blip>
          <a:srcRect l="25157" t="27639" r="30104"/>
          <a:stretch>
            <a:fillRect/>
          </a:stretch>
        </p:blipFill>
        <p:spPr>
          <a:xfrm>
            <a:off x="6324887" y="3428999"/>
            <a:ext cx="2703006" cy="3278875"/>
          </a:xfrm>
          <a:prstGeom prst="rect">
            <a:avLst/>
          </a:prstGeom>
        </p:spPr>
      </p:pic>
      <p:sp>
        <p:nvSpPr>
          <p:cNvPr id="26" name="TextBox 25">
            <a:extLst>
              <a:ext uri="{FF2B5EF4-FFF2-40B4-BE49-F238E27FC236}">
                <a16:creationId xmlns:a16="http://schemas.microsoft.com/office/drawing/2014/main" id="{381F621B-E2DE-BF01-C440-D5D46626422E}"/>
              </a:ext>
            </a:extLst>
          </p:cNvPr>
          <p:cNvSpPr txBox="1"/>
          <p:nvPr/>
        </p:nvSpPr>
        <p:spPr>
          <a:xfrm>
            <a:off x="6407675" y="6338543"/>
            <a:ext cx="570156" cy="369332"/>
          </a:xfrm>
          <a:prstGeom prst="rect">
            <a:avLst/>
          </a:prstGeom>
          <a:noFill/>
        </p:spPr>
        <p:txBody>
          <a:bodyPr wrap="square" rtlCol="0">
            <a:spAutoFit/>
          </a:bodyPr>
          <a:lstStyle/>
          <a:p>
            <a:r>
              <a:rPr lang="en-US" dirty="0">
                <a:solidFill>
                  <a:schemeClr val="accent2"/>
                </a:solidFill>
              </a:rPr>
              <a:t>6</a:t>
            </a:r>
          </a:p>
        </p:txBody>
      </p:sp>
      <p:pic>
        <p:nvPicPr>
          <p:cNvPr id="28" name="Picture 27">
            <a:extLst>
              <a:ext uri="{FF2B5EF4-FFF2-40B4-BE49-F238E27FC236}">
                <a16:creationId xmlns:a16="http://schemas.microsoft.com/office/drawing/2014/main" id="{1DFB55FD-E688-107B-AAA7-4E1257B6350B}"/>
              </a:ext>
            </a:extLst>
          </p:cNvPr>
          <p:cNvPicPr>
            <a:picLocks noChangeAspect="1"/>
          </p:cNvPicPr>
          <p:nvPr/>
        </p:nvPicPr>
        <p:blipFill>
          <a:blip r:embed="rId8">
            <a:extLst>
              <a:ext uri="{28A0092B-C50C-407E-A947-70E740481C1C}">
                <a14:useLocalDpi xmlns:a14="http://schemas.microsoft.com/office/drawing/2010/main" val="0"/>
              </a:ext>
            </a:extLst>
          </a:blip>
          <a:srcRect l="35208" t="45694" r="40356"/>
          <a:stretch>
            <a:fillRect/>
          </a:stretch>
        </p:blipFill>
        <p:spPr>
          <a:xfrm>
            <a:off x="9630142" y="3988123"/>
            <a:ext cx="1885642" cy="3142996"/>
          </a:xfrm>
          <a:prstGeom prst="rect">
            <a:avLst/>
          </a:prstGeom>
        </p:spPr>
      </p:pic>
      <p:sp>
        <p:nvSpPr>
          <p:cNvPr id="30" name="TextBox 29">
            <a:extLst>
              <a:ext uri="{FF2B5EF4-FFF2-40B4-BE49-F238E27FC236}">
                <a16:creationId xmlns:a16="http://schemas.microsoft.com/office/drawing/2014/main" id="{1087A122-0A16-7C2D-4C5F-3C736BF9FCBC}"/>
              </a:ext>
            </a:extLst>
          </p:cNvPr>
          <p:cNvSpPr txBox="1"/>
          <p:nvPr/>
        </p:nvSpPr>
        <p:spPr>
          <a:xfrm>
            <a:off x="9345064" y="6304003"/>
            <a:ext cx="570156" cy="369332"/>
          </a:xfrm>
          <a:prstGeom prst="rect">
            <a:avLst/>
          </a:prstGeom>
          <a:noFill/>
        </p:spPr>
        <p:txBody>
          <a:bodyPr wrap="square" rtlCol="0">
            <a:spAutoFit/>
          </a:bodyPr>
          <a:lstStyle/>
          <a:p>
            <a:r>
              <a:rPr lang="en-US" dirty="0">
                <a:solidFill>
                  <a:srgbClr val="FFFF00"/>
                </a:solidFill>
              </a:rPr>
              <a:t>7</a:t>
            </a:r>
          </a:p>
        </p:txBody>
      </p:sp>
    </p:spTree>
    <p:extLst>
      <p:ext uri="{BB962C8B-B14F-4D97-AF65-F5344CB8AC3E}">
        <p14:creationId xmlns:p14="http://schemas.microsoft.com/office/powerpoint/2010/main" val="863772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33AB253-1F64-54B8-2078-0340D4C0C88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6306" y="0"/>
            <a:ext cx="7246540" cy="6858000"/>
          </a:xfrm>
          <a:prstGeom prst="rect">
            <a:avLst/>
          </a:prstGeom>
        </p:spPr>
      </p:pic>
      <p:sp>
        <p:nvSpPr>
          <p:cNvPr id="2" name="TextBox 1">
            <a:extLst>
              <a:ext uri="{FF2B5EF4-FFF2-40B4-BE49-F238E27FC236}">
                <a16:creationId xmlns:a16="http://schemas.microsoft.com/office/drawing/2014/main" id="{97D6EDA2-40BD-5FC3-CD3A-F65E8E0DB608}"/>
              </a:ext>
            </a:extLst>
          </p:cNvPr>
          <p:cNvSpPr txBox="1"/>
          <p:nvPr/>
        </p:nvSpPr>
        <p:spPr>
          <a:xfrm>
            <a:off x="7877175" y="609599"/>
            <a:ext cx="3228975" cy="646331"/>
          </a:xfrm>
          <a:prstGeom prst="rect">
            <a:avLst/>
          </a:prstGeom>
          <a:noFill/>
        </p:spPr>
        <p:txBody>
          <a:bodyPr wrap="square" rtlCol="0">
            <a:spAutoFit/>
          </a:bodyPr>
          <a:lstStyle/>
          <a:p>
            <a:r>
              <a:rPr lang="en-US" dirty="0"/>
              <a:t>Hierarchical clustering, wards method w/Euclidean distance</a:t>
            </a:r>
          </a:p>
        </p:txBody>
      </p:sp>
    </p:spTree>
    <p:extLst>
      <p:ext uri="{BB962C8B-B14F-4D97-AF65-F5344CB8AC3E}">
        <p14:creationId xmlns:p14="http://schemas.microsoft.com/office/powerpoint/2010/main" val="2804205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2E1205-887B-81DE-6ED1-5BA34056D579}"/>
              </a:ext>
            </a:extLst>
          </p:cNvPr>
          <p:cNvSpPr txBox="1"/>
          <p:nvPr/>
        </p:nvSpPr>
        <p:spPr>
          <a:xfrm>
            <a:off x="9908325" y="2690336"/>
            <a:ext cx="1530220" cy="1477328"/>
          </a:xfrm>
          <a:prstGeom prst="rect">
            <a:avLst/>
          </a:prstGeom>
          <a:noFill/>
        </p:spPr>
        <p:txBody>
          <a:bodyPr wrap="square" rtlCol="0">
            <a:spAutoFit/>
          </a:bodyPr>
          <a:lstStyle/>
          <a:p>
            <a:r>
              <a:rPr lang="en-US" dirty="0" err="1"/>
              <a:t>fcluster</a:t>
            </a:r>
            <a:r>
              <a:rPr lang="en-US" dirty="0"/>
              <a:t> with 7 clusters max, to try to match my 7 phenotypes</a:t>
            </a:r>
          </a:p>
        </p:txBody>
      </p:sp>
      <p:pic>
        <p:nvPicPr>
          <p:cNvPr id="7" name="Content Placeholder 6">
            <a:extLst>
              <a:ext uri="{FF2B5EF4-FFF2-40B4-BE49-F238E27FC236}">
                <a16:creationId xmlns:a16="http://schemas.microsoft.com/office/drawing/2014/main" id="{D24873AF-6503-8130-1BA5-221D7501AE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9063" y="1230797"/>
            <a:ext cx="8820631" cy="5350977"/>
          </a:xfrm>
          <a:prstGeom prst="rect">
            <a:avLst/>
          </a:prstGeom>
        </p:spPr>
      </p:pic>
      <p:sp>
        <p:nvSpPr>
          <p:cNvPr id="8" name="TextBox 7">
            <a:extLst>
              <a:ext uri="{FF2B5EF4-FFF2-40B4-BE49-F238E27FC236}">
                <a16:creationId xmlns:a16="http://schemas.microsoft.com/office/drawing/2014/main" id="{8E905E62-4F97-1451-22F2-7E8C3543585B}"/>
              </a:ext>
            </a:extLst>
          </p:cNvPr>
          <p:cNvSpPr txBox="1"/>
          <p:nvPr/>
        </p:nvSpPr>
        <p:spPr>
          <a:xfrm>
            <a:off x="1184988" y="6473699"/>
            <a:ext cx="447869" cy="369332"/>
          </a:xfrm>
          <a:prstGeom prst="rect">
            <a:avLst/>
          </a:prstGeom>
          <a:noFill/>
        </p:spPr>
        <p:txBody>
          <a:bodyPr wrap="square" rtlCol="0">
            <a:spAutoFit/>
          </a:bodyPr>
          <a:lstStyle/>
          <a:p>
            <a:r>
              <a:rPr lang="en-US" dirty="0"/>
              <a:t>1</a:t>
            </a:r>
          </a:p>
        </p:txBody>
      </p:sp>
      <p:sp>
        <p:nvSpPr>
          <p:cNvPr id="10" name="TextBox 9">
            <a:extLst>
              <a:ext uri="{FF2B5EF4-FFF2-40B4-BE49-F238E27FC236}">
                <a16:creationId xmlns:a16="http://schemas.microsoft.com/office/drawing/2014/main" id="{7CA42FD1-62F7-FA4B-BCEC-E528DD9FA01A}"/>
              </a:ext>
            </a:extLst>
          </p:cNvPr>
          <p:cNvSpPr txBox="1"/>
          <p:nvPr/>
        </p:nvSpPr>
        <p:spPr>
          <a:xfrm>
            <a:off x="2298782" y="6473699"/>
            <a:ext cx="447869" cy="369332"/>
          </a:xfrm>
          <a:prstGeom prst="rect">
            <a:avLst/>
          </a:prstGeom>
          <a:noFill/>
        </p:spPr>
        <p:txBody>
          <a:bodyPr wrap="square" rtlCol="0">
            <a:spAutoFit/>
          </a:bodyPr>
          <a:lstStyle/>
          <a:p>
            <a:r>
              <a:rPr lang="en-US" dirty="0"/>
              <a:t>2</a:t>
            </a:r>
          </a:p>
        </p:txBody>
      </p:sp>
      <p:sp>
        <p:nvSpPr>
          <p:cNvPr id="12" name="TextBox 11">
            <a:extLst>
              <a:ext uri="{FF2B5EF4-FFF2-40B4-BE49-F238E27FC236}">
                <a16:creationId xmlns:a16="http://schemas.microsoft.com/office/drawing/2014/main" id="{0F644125-402E-42FE-521B-D7195F499331}"/>
              </a:ext>
            </a:extLst>
          </p:cNvPr>
          <p:cNvSpPr txBox="1"/>
          <p:nvPr/>
        </p:nvSpPr>
        <p:spPr>
          <a:xfrm>
            <a:off x="3567404" y="6473699"/>
            <a:ext cx="447869" cy="369332"/>
          </a:xfrm>
          <a:prstGeom prst="rect">
            <a:avLst/>
          </a:prstGeom>
          <a:noFill/>
        </p:spPr>
        <p:txBody>
          <a:bodyPr wrap="square" rtlCol="0">
            <a:spAutoFit/>
          </a:bodyPr>
          <a:lstStyle/>
          <a:p>
            <a:r>
              <a:rPr lang="en-US" dirty="0"/>
              <a:t>3</a:t>
            </a:r>
          </a:p>
        </p:txBody>
      </p:sp>
      <p:sp>
        <p:nvSpPr>
          <p:cNvPr id="14" name="TextBox 13">
            <a:extLst>
              <a:ext uri="{FF2B5EF4-FFF2-40B4-BE49-F238E27FC236}">
                <a16:creationId xmlns:a16="http://schemas.microsoft.com/office/drawing/2014/main" id="{F4BF0976-41E0-C4E8-D904-BC21F7A8886C}"/>
              </a:ext>
            </a:extLst>
          </p:cNvPr>
          <p:cNvSpPr txBox="1"/>
          <p:nvPr/>
        </p:nvSpPr>
        <p:spPr>
          <a:xfrm>
            <a:off x="5184927" y="6464369"/>
            <a:ext cx="447869" cy="369332"/>
          </a:xfrm>
          <a:prstGeom prst="rect">
            <a:avLst/>
          </a:prstGeom>
          <a:noFill/>
        </p:spPr>
        <p:txBody>
          <a:bodyPr wrap="square" rtlCol="0">
            <a:spAutoFit/>
          </a:bodyPr>
          <a:lstStyle/>
          <a:p>
            <a:r>
              <a:rPr lang="en-US" dirty="0"/>
              <a:t>4</a:t>
            </a:r>
          </a:p>
        </p:txBody>
      </p:sp>
      <p:sp>
        <p:nvSpPr>
          <p:cNvPr id="16" name="TextBox 15">
            <a:extLst>
              <a:ext uri="{FF2B5EF4-FFF2-40B4-BE49-F238E27FC236}">
                <a16:creationId xmlns:a16="http://schemas.microsoft.com/office/drawing/2014/main" id="{2D17D1B9-FA3F-F72D-C2DE-2737581F124B}"/>
              </a:ext>
            </a:extLst>
          </p:cNvPr>
          <p:cNvSpPr txBox="1"/>
          <p:nvPr/>
        </p:nvSpPr>
        <p:spPr>
          <a:xfrm>
            <a:off x="6503222" y="6464369"/>
            <a:ext cx="447869" cy="369332"/>
          </a:xfrm>
          <a:prstGeom prst="rect">
            <a:avLst/>
          </a:prstGeom>
          <a:noFill/>
        </p:spPr>
        <p:txBody>
          <a:bodyPr wrap="square" rtlCol="0">
            <a:spAutoFit/>
          </a:bodyPr>
          <a:lstStyle/>
          <a:p>
            <a:r>
              <a:rPr lang="en-US" dirty="0"/>
              <a:t>5</a:t>
            </a:r>
          </a:p>
        </p:txBody>
      </p:sp>
      <p:sp>
        <p:nvSpPr>
          <p:cNvPr id="18" name="TextBox 17">
            <a:extLst>
              <a:ext uri="{FF2B5EF4-FFF2-40B4-BE49-F238E27FC236}">
                <a16:creationId xmlns:a16="http://schemas.microsoft.com/office/drawing/2014/main" id="{A42368BB-E2D1-9CA0-5C03-19BDC450A1ED}"/>
              </a:ext>
            </a:extLst>
          </p:cNvPr>
          <p:cNvSpPr txBox="1"/>
          <p:nvPr/>
        </p:nvSpPr>
        <p:spPr>
          <a:xfrm>
            <a:off x="7686430" y="6455038"/>
            <a:ext cx="447869" cy="369332"/>
          </a:xfrm>
          <a:prstGeom prst="rect">
            <a:avLst/>
          </a:prstGeom>
          <a:noFill/>
        </p:spPr>
        <p:txBody>
          <a:bodyPr wrap="square" rtlCol="0">
            <a:spAutoFit/>
          </a:bodyPr>
          <a:lstStyle/>
          <a:p>
            <a:r>
              <a:rPr lang="en-US" dirty="0"/>
              <a:t>6</a:t>
            </a:r>
          </a:p>
        </p:txBody>
      </p:sp>
      <p:sp>
        <p:nvSpPr>
          <p:cNvPr id="20" name="TextBox 19">
            <a:extLst>
              <a:ext uri="{FF2B5EF4-FFF2-40B4-BE49-F238E27FC236}">
                <a16:creationId xmlns:a16="http://schemas.microsoft.com/office/drawing/2014/main" id="{E0C76809-DDF9-1CF1-00C3-54E77E1CAEFC}"/>
              </a:ext>
            </a:extLst>
          </p:cNvPr>
          <p:cNvSpPr txBox="1"/>
          <p:nvPr/>
        </p:nvSpPr>
        <p:spPr>
          <a:xfrm>
            <a:off x="8513062" y="6455038"/>
            <a:ext cx="447869" cy="369332"/>
          </a:xfrm>
          <a:prstGeom prst="rect">
            <a:avLst/>
          </a:prstGeom>
          <a:noFill/>
        </p:spPr>
        <p:txBody>
          <a:bodyPr wrap="square" rtlCol="0">
            <a:spAutoFit/>
          </a:bodyPr>
          <a:lstStyle/>
          <a:p>
            <a:r>
              <a:rPr lang="en-US" dirty="0"/>
              <a:t>7</a:t>
            </a:r>
          </a:p>
        </p:txBody>
      </p:sp>
    </p:spTree>
    <p:extLst>
      <p:ext uri="{BB962C8B-B14F-4D97-AF65-F5344CB8AC3E}">
        <p14:creationId xmlns:p14="http://schemas.microsoft.com/office/powerpoint/2010/main" val="70469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95CCE1AC-8C1A-A86F-68A5-59C5E83CFD3C}"/>
              </a:ext>
            </a:extLst>
          </p:cNvPr>
          <p:cNvPicPr>
            <a:picLocks noChangeAspect="1"/>
          </p:cNvPicPr>
          <p:nvPr/>
        </p:nvPicPr>
        <p:blipFill>
          <a:blip r:embed="rId3">
            <a:extLst>
              <a:ext uri="{28A0092B-C50C-407E-A947-70E740481C1C}">
                <a14:useLocalDpi xmlns:a14="http://schemas.microsoft.com/office/drawing/2010/main" val="0"/>
              </a:ext>
            </a:extLst>
          </a:blip>
          <a:srcRect l="32812" t="65278" r="39379" b="-1"/>
          <a:stretch>
            <a:fillRect/>
          </a:stretch>
        </p:blipFill>
        <p:spPr>
          <a:xfrm>
            <a:off x="7667627" y="3779282"/>
            <a:ext cx="3037679" cy="2844700"/>
          </a:xfrm>
          <a:prstGeom prst="rect">
            <a:avLst/>
          </a:prstGeom>
        </p:spPr>
      </p:pic>
      <p:pic>
        <p:nvPicPr>
          <p:cNvPr id="28" name="Picture 27">
            <a:extLst>
              <a:ext uri="{FF2B5EF4-FFF2-40B4-BE49-F238E27FC236}">
                <a16:creationId xmlns:a16="http://schemas.microsoft.com/office/drawing/2014/main" id="{CCBB1CC3-8E39-B77F-4139-5703A2562C3C}"/>
              </a:ext>
            </a:extLst>
          </p:cNvPr>
          <p:cNvPicPr>
            <a:picLocks noChangeAspect="1"/>
          </p:cNvPicPr>
          <p:nvPr/>
        </p:nvPicPr>
        <p:blipFill>
          <a:blip r:embed="rId4">
            <a:extLst>
              <a:ext uri="{28A0092B-C50C-407E-A947-70E740481C1C}">
                <a14:useLocalDpi xmlns:a14="http://schemas.microsoft.com/office/drawing/2010/main" val="0"/>
              </a:ext>
            </a:extLst>
          </a:blip>
          <a:srcRect l="34479" t="65833" r="41458" b="4167"/>
          <a:stretch>
            <a:fillRect/>
          </a:stretch>
        </p:blipFill>
        <p:spPr>
          <a:xfrm>
            <a:off x="4116778" y="3413372"/>
            <a:ext cx="3037679" cy="2840426"/>
          </a:xfrm>
          <a:prstGeom prst="rect">
            <a:avLst/>
          </a:prstGeom>
        </p:spPr>
      </p:pic>
      <p:pic>
        <p:nvPicPr>
          <p:cNvPr id="26" name="Picture 25">
            <a:extLst>
              <a:ext uri="{FF2B5EF4-FFF2-40B4-BE49-F238E27FC236}">
                <a16:creationId xmlns:a16="http://schemas.microsoft.com/office/drawing/2014/main" id="{1B1BB928-6C08-A454-352D-78142DD0406A}"/>
              </a:ext>
            </a:extLst>
          </p:cNvPr>
          <p:cNvPicPr>
            <a:picLocks noChangeAspect="1"/>
          </p:cNvPicPr>
          <p:nvPr/>
        </p:nvPicPr>
        <p:blipFill>
          <a:blip r:embed="rId5">
            <a:extLst>
              <a:ext uri="{28A0092B-C50C-407E-A947-70E740481C1C}">
                <a14:useLocalDpi xmlns:a14="http://schemas.microsoft.com/office/drawing/2010/main" val="0"/>
              </a:ext>
            </a:extLst>
          </a:blip>
          <a:srcRect l="32813" t="66390" r="38424" b="-1"/>
          <a:stretch>
            <a:fillRect/>
          </a:stretch>
        </p:blipFill>
        <p:spPr>
          <a:xfrm>
            <a:off x="484979" y="3429000"/>
            <a:ext cx="3486150" cy="3055322"/>
          </a:xfrm>
          <a:prstGeom prst="rect">
            <a:avLst/>
          </a:prstGeom>
        </p:spPr>
      </p:pic>
      <p:pic>
        <p:nvPicPr>
          <p:cNvPr id="22" name="Picture 21">
            <a:extLst>
              <a:ext uri="{FF2B5EF4-FFF2-40B4-BE49-F238E27FC236}">
                <a16:creationId xmlns:a16="http://schemas.microsoft.com/office/drawing/2014/main" id="{0898F844-3014-E121-BC17-84256ECA36AA}"/>
              </a:ext>
            </a:extLst>
          </p:cNvPr>
          <p:cNvPicPr>
            <a:picLocks noChangeAspect="1"/>
          </p:cNvPicPr>
          <p:nvPr/>
        </p:nvPicPr>
        <p:blipFill>
          <a:blip r:embed="rId6">
            <a:extLst>
              <a:ext uri="{28A0092B-C50C-407E-A947-70E740481C1C}">
                <a14:useLocalDpi xmlns:a14="http://schemas.microsoft.com/office/drawing/2010/main" val="0"/>
              </a:ext>
            </a:extLst>
          </a:blip>
          <a:srcRect l="32812" t="46218" r="39169" b="-867"/>
          <a:stretch>
            <a:fillRect/>
          </a:stretch>
        </p:blipFill>
        <p:spPr>
          <a:xfrm>
            <a:off x="7154457" y="438149"/>
            <a:ext cx="2220121" cy="3247640"/>
          </a:xfrm>
          <a:prstGeom prst="rect">
            <a:avLst/>
          </a:prstGeom>
        </p:spPr>
      </p:pic>
      <p:pic>
        <p:nvPicPr>
          <p:cNvPr id="20" name="Picture 19">
            <a:extLst>
              <a:ext uri="{FF2B5EF4-FFF2-40B4-BE49-F238E27FC236}">
                <a16:creationId xmlns:a16="http://schemas.microsoft.com/office/drawing/2014/main" id="{1F76C1FF-6EAA-FC65-8932-6FEE483FD55C}"/>
              </a:ext>
            </a:extLst>
          </p:cNvPr>
          <p:cNvPicPr>
            <a:picLocks noChangeAspect="1"/>
          </p:cNvPicPr>
          <p:nvPr/>
        </p:nvPicPr>
        <p:blipFill>
          <a:blip r:embed="rId7">
            <a:extLst>
              <a:ext uri="{28A0092B-C50C-407E-A947-70E740481C1C}">
                <a14:useLocalDpi xmlns:a14="http://schemas.microsoft.com/office/drawing/2010/main" val="0"/>
              </a:ext>
            </a:extLst>
          </a:blip>
          <a:srcRect l="25786" t="27500" r="29422"/>
          <a:stretch>
            <a:fillRect/>
          </a:stretch>
        </p:blipFill>
        <p:spPr>
          <a:xfrm>
            <a:off x="4676775" y="457199"/>
            <a:ext cx="2390389" cy="2901821"/>
          </a:xfrm>
          <a:prstGeom prst="rect">
            <a:avLst/>
          </a:prstGeom>
        </p:spPr>
      </p:pic>
      <p:pic>
        <p:nvPicPr>
          <p:cNvPr id="5" name="Picture 4">
            <a:extLst>
              <a:ext uri="{FF2B5EF4-FFF2-40B4-BE49-F238E27FC236}">
                <a16:creationId xmlns:a16="http://schemas.microsoft.com/office/drawing/2014/main" id="{A8D77A9D-C8CB-B858-3311-432A931C87A2}"/>
              </a:ext>
            </a:extLst>
          </p:cNvPr>
          <p:cNvPicPr>
            <a:picLocks noChangeAspect="1"/>
          </p:cNvPicPr>
          <p:nvPr/>
        </p:nvPicPr>
        <p:blipFill>
          <a:blip r:embed="rId8">
            <a:extLst>
              <a:ext uri="{28A0092B-C50C-407E-A947-70E740481C1C}">
                <a14:useLocalDpi xmlns:a14="http://schemas.microsoft.com/office/drawing/2010/main" val="0"/>
              </a:ext>
            </a:extLst>
          </a:blip>
          <a:srcRect l="23959" t="67361" r="31250" b="4028"/>
          <a:stretch>
            <a:fillRect/>
          </a:stretch>
        </p:blipFill>
        <p:spPr>
          <a:xfrm>
            <a:off x="428625" y="457199"/>
            <a:ext cx="4095750" cy="1962151"/>
          </a:xfrm>
          <a:prstGeom prst="rect">
            <a:avLst/>
          </a:prstGeom>
        </p:spPr>
      </p:pic>
      <p:sp>
        <p:nvSpPr>
          <p:cNvPr id="6" name="TextBox 5">
            <a:extLst>
              <a:ext uri="{FF2B5EF4-FFF2-40B4-BE49-F238E27FC236}">
                <a16:creationId xmlns:a16="http://schemas.microsoft.com/office/drawing/2014/main" id="{BAF58291-77F4-1344-5633-990DB3EDD017}"/>
              </a:ext>
            </a:extLst>
          </p:cNvPr>
          <p:cNvSpPr txBox="1"/>
          <p:nvPr/>
        </p:nvSpPr>
        <p:spPr>
          <a:xfrm>
            <a:off x="428625" y="1885950"/>
            <a:ext cx="266700" cy="369332"/>
          </a:xfrm>
          <a:prstGeom prst="rect">
            <a:avLst/>
          </a:prstGeom>
          <a:noFill/>
        </p:spPr>
        <p:txBody>
          <a:bodyPr wrap="square" rtlCol="0">
            <a:spAutoFit/>
          </a:bodyPr>
          <a:lstStyle/>
          <a:p>
            <a:r>
              <a:rPr lang="en-US" dirty="0">
                <a:solidFill>
                  <a:schemeClr val="bg1"/>
                </a:solidFill>
              </a:rPr>
              <a:t>1</a:t>
            </a:r>
          </a:p>
        </p:txBody>
      </p:sp>
      <p:sp>
        <p:nvSpPr>
          <p:cNvPr id="8" name="TextBox 7">
            <a:extLst>
              <a:ext uri="{FF2B5EF4-FFF2-40B4-BE49-F238E27FC236}">
                <a16:creationId xmlns:a16="http://schemas.microsoft.com/office/drawing/2014/main" id="{4BF7CDFD-9427-2613-9FF5-39F8D81F9128}"/>
              </a:ext>
            </a:extLst>
          </p:cNvPr>
          <p:cNvSpPr txBox="1"/>
          <p:nvPr/>
        </p:nvSpPr>
        <p:spPr>
          <a:xfrm>
            <a:off x="4829175" y="2884710"/>
            <a:ext cx="266700" cy="369332"/>
          </a:xfrm>
          <a:prstGeom prst="rect">
            <a:avLst/>
          </a:prstGeom>
          <a:noFill/>
        </p:spPr>
        <p:txBody>
          <a:bodyPr wrap="square" rtlCol="0">
            <a:spAutoFit/>
          </a:bodyPr>
          <a:lstStyle/>
          <a:p>
            <a:r>
              <a:rPr lang="en-US" dirty="0">
                <a:solidFill>
                  <a:schemeClr val="bg1"/>
                </a:solidFill>
              </a:rPr>
              <a:t>2</a:t>
            </a:r>
          </a:p>
        </p:txBody>
      </p:sp>
      <p:sp>
        <p:nvSpPr>
          <p:cNvPr id="10" name="TextBox 9">
            <a:extLst>
              <a:ext uri="{FF2B5EF4-FFF2-40B4-BE49-F238E27FC236}">
                <a16:creationId xmlns:a16="http://schemas.microsoft.com/office/drawing/2014/main" id="{BE15BF1A-C37A-C900-DB23-4DF4A5206B47}"/>
              </a:ext>
            </a:extLst>
          </p:cNvPr>
          <p:cNvSpPr txBox="1"/>
          <p:nvPr/>
        </p:nvSpPr>
        <p:spPr>
          <a:xfrm>
            <a:off x="7154457" y="3169682"/>
            <a:ext cx="266700" cy="369332"/>
          </a:xfrm>
          <a:prstGeom prst="rect">
            <a:avLst/>
          </a:prstGeom>
          <a:noFill/>
        </p:spPr>
        <p:txBody>
          <a:bodyPr wrap="square" rtlCol="0">
            <a:spAutoFit/>
          </a:bodyPr>
          <a:lstStyle/>
          <a:p>
            <a:r>
              <a:rPr lang="en-US" dirty="0">
                <a:solidFill>
                  <a:schemeClr val="bg1"/>
                </a:solidFill>
              </a:rPr>
              <a:t>3</a:t>
            </a:r>
          </a:p>
        </p:txBody>
      </p:sp>
      <p:sp>
        <p:nvSpPr>
          <p:cNvPr id="14" name="TextBox 13">
            <a:extLst>
              <a:ext uri="{FF2B5EF4-FFF2-40B4-BE49-F238E27FC236}">
                <a16:creationId xmlns:a16="http://schemas.microsoft.com/office/drawing/2014/main" id="{DE1BA1A3-731B-837D-DE60-C84974A4B0E9}"/>
              </a:ext>
            </a:extLst>
          </p:cNvPr>
          <p:cNvSpPr txBox="1"/>
          <p:nvPr/>
        </p:nvSpPr>
        <p:spPr>
          <a:xfrm>
            <a:off x="666750" y="5876925"/>
            <a:ext cx="266700" cy="369332"/>
          </a:xfrm>
          <a:prstGeom prst="rect">
            <a:avLst/>
          </a:prstGeom>
          <a:noFill/>
        </p:spPr>
        <p:txBody>
          <a:bodyPr wrap="square" rtlCol="0">
            <a:spAutoFit/>
          </a:bodyPr>
          <a:lstStyle/>
          <a:p>
            <a:r>
              <a:rPr lang="en-US" dirty="0">
                <a:solidFill>
                  <a:schemeClr val="bg1"/>
                </a:solidFill>
              </a:rPr>
              <a:t>5</a:t>
            </a:r>
          </a:p>
        </p:txBody>
      </p:sp>
      <p:sp>
        <p:nvSpPr>
          <p:cNvPr id="16" name="TextBox 15">
            <a:extLst>
              <a:ext uri="{FF2B5EF4-FFF2-40B4-BE49-F238E27FC236}">
                <a16:creationId xmlns:a16="http://schemas.microsoft.com/office/drawing/2014/main" id="{79D12D69-8064-4F89-B014-541BA03E8559}"/>
              </a:ext>
            </a:extLst>
          </p:cNvPr>
          <p:cNvSpPr txBox="1"/>
          <p:nvPr/>
        </p:nvSpPr>
        <p:spPr>
          <a:xfrm>
            <a:off x="4257675" y="5910838"/>
            <a:ext cx="266700" cy="369332"/>
          </a:xfrm>
          <a:prstGeom prst="rect">
            <a:avLst/>
          </a:prstGeom>
          <a:noFill/>
        </p:spPr>
        <p:txBody>
          <a:bodyPr wrap="square" rtlCol="0">
            <a:spAutoFit/>
          </a:bodyPr>
          <a:lstStyle/>
          <a:p>
            <a:r>
              <a:rPr lang="en-US" dirty="0">
                <a:solidFill>
                  <a:schemeClr val="bg1"/>
                </a:solidFill>
              </a:rPr>
              <a:t>6</a:t>
            </a:r>
          </a:p>
        </p:txBody>
      </p:sp>
      <p:sp>
        <p:nvSpPr>
          <p:cNvPr id="18" name="TextBox 17">
            <a:extLst>
              <a:ext uri="{FF2B5EF4-FFF2-40B4-BE49-F238E27FC236}">
                <a16:creationId xmlns:a16="http://schemas.microsoft.com/office/drawing/2014/main" id="{7A151DA1-A30E-501C-9490-C5B3A9409255}"/>
              </a:ext>
            </a:extLst>
          </p:cNvPr>
          <p:cNvSpPr txBox="1"/>
          <p:nvPr/>
        </p:nvSpPr>
        <p:spPr>
          <a:xfrm>
            <a:off x="7954173" y="5941353"/>
            <a:ext cx="266700" cy="369332"/>
          </a:xfrm>
          <a:prstGeom prst="rect">
            <a:avLst/>
          </a:prstGeom>
          <a:noFill/>
        </p:spPr>
        <p:txBody>
          <a:bodyPr wrap="square" rtlCol="0">
            <a:spAutoFit/>
          </a:bodyPr>
          <a:lstStyle/>
          <a:p>
            <a:r>
              <a:rPr lang="en-US" dirty="0">
                <a:solidFill>
                  <a:schemeClr val="bg1"/>
                </a:solidFill>
              </a:rPr>
              <a:t>7</a:t>
            </a:r>
          </a:p>
        </p:txBody>
      </p:sp>
      <p:pic>
        <p:nvPicPr>
          <p:cNvPr id="24" name="Picture 23">
            <a:extLst>
              <a:ext uri="{FF2B5EF4-FFF2-40B4-BE49-F238E27FC236}">
                <a16:creationId xmlns:a16="http://schemas.microsoft.com/office/drawing/2014/main" id="{8D511FDF-BCB2-4245-6480-208C8A3CF52D}"/>
              </a:ext>
            </a:extLst>
          </p:cNvPr>
          <p:cNvPicPr>
            <a:picLocks noChangeAspect="1"/>
          </p:cNvPicPr>
          <p:nvPr/>
        </p:nvPicPr>
        <p:blipFill>
          <a:blip r:embed="rId9">
            <a:extLst>
              <a:ext uri="{28A0092B-C50C-407E-A947-70E740481C1C}">
                <a14:useLocalDpi xmlns:a14="http://schemas.microsoft.com/office/drawing/2010/main" val="0"/>
              </a:ext>
            </a:extLst>
          </a:blip>
          <a:srcRect l="32812" t="42063" r="39379"/>
          <a:stretch>
            <a:fillRect/>
          </a:stretch>
        </p:blipFill>
        <p:spPr>
          <a:xfrm>
            <a:off x="9697246" y="426481"/>
            <a:ext cx="2145694" cy="3352801"/>
          </a:xfrm>
          <a:prstGeom prst="rect">
            <a:avLst/>
          </a:prstGeom>
        </p:spPr>
      </p:pic>
      <p:sp>
        <p:nvSpPr>
          <p:cNvPr id="12" name="TextBox 11">
            <a:extLst>
              <a:ext uri="{FF2B5EF4-FFF2-40B4-BE49-F238E27FC236}">
                <a16:creationId xmlns:a16="http://schemas.microsoft.com/office/drawing/2014/main" id="{4CD4C314-98A3-E9E0-89A2-322658084379}"/>
              </a:ext>
            </a:extLst>
          </p:cNvPr>
          <p:cNvSpPr txBox="1"/>
          <p:nvPr/>
        </p:nvSpPr>
        <p:spPr>
          <a:xfrm>
            <a:off x="9697246" y="3280683"/>
            <a:ext cx="266700" cy="369332"/>
          </a:xfrm>
          <a:prstGeom prst="rect">
            <a:avLst/>
          </a:prstGeom>
          <a:noFill/>
        </p:spPr>
        <p:txBody>
          <a:bodyPr wrap="square" rtlCol="0">
            <a:spAutoFit/>
          </a:bodyPr>
          <a:lstStyle/>
          <a:p>
            <a:r>
              <a:rPr lang="en-US" dirty="0">
                <a:solidFill>
                  <a:schemeClr val="bg1"/>
                </a:solidFill>
              </a:rPr>
              <a:t>4</a:t>
            </a:r>
          </a:p>
        </p:txBody>
      </p:sp>
    </p:spTree>
    <p:extLst>
      <p:ext uri="{BB962C8B-B14F-4D97-AF65-F5344CB8AC3E}">
        <p14:creationId xmlns:p14="http://schemas.microsoft.com/office/powerpoint/2010/main" val="4074932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1996B-D8EA-A698-8B75-97CFFEA15479}"/>
              </a:ext>
            </a:extLst>
          </p:cNvPr>
          <p:cNvSpPr>
            <a:spLocks noGrp="1"/>
          </p:cNvSpPr>
          <p:nvPr>
            <p:ph type="title"/>
          </p:nvPr>
        </p:nvSpPr>
        <p:spPr/>
        <p:txBody>
          <a:bodyPr/>
          <a:lstStyle/>
          <a:p>
            <a:r>
              <a:rPr lang="en-US" dirty="0"/>
              <a:t>UMAP of combined region data</a:t>
            </a:r>
          </a:p>
        </p:txBody>
      </p:sp>
      <p:pic>
        <p:nvPicPr>
          <p:cNvPr id="5" name="Content Placeholder 4">
            <a:extLst>
              <a:ext uri="{FF2B5EF4-FFF2-40B4-BE49-F238E27FC236}">
                <a16:creationId xmlns:a16="http://schemas.microsoft.com/office/drawing/2014/main" id="{1CF73442-CF5B-4014-FAED-E172F0B53A9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90750" y="1773415"/>
            <a:ext cx="7258050" cy="4995540"/>
          </a:xfrm>
          <a:prstGeom prst="rect">
            <a:avLst/>
          </a:prstGeom>
        </p:spPr>
      </p:pic>
      <p:sp>
        <p:nvSpPr>
          <p:cNvPr id="7" name="TextBox 6">
            <a:extLst>
              <a:ext uri="{FF2B5EF4-FFF2-40B4-BE49-F238E27FC236}">
                <a16:creationId xmlns:a16="http://schemas.microsoft.com/office/drawing/2014/main" id="{059311D7-9E23-521F-8EBE-56FEDB4C30DD}"/>
              </a:ext>
            </a:extLst>
          </p:cNvPr>
          <p:cNvSpPr txBox="1"/>
          <p:nvPr/>
        </p:nvSpPr>
        <p:spPr>
          <a:xfrm>
            <a:off x="7880139" y="1959866"/>
            <a:ext cx="1568661" cy="2031325"/>
          </a:xfrm>
          <a:prstGeom prst="rect">
            <a:avLst/>
          </a:prstGeom>
          <a:noFill/>
        </p:spPr>
        <p:txBody>
          <a:bodyPr wrap="square" rtlCol="0">
            <a:spAutoFit/>
          </a:bodyPr>
          <a:lstStyle/>
          <a:p>
            <a:r>
              <a:rPr lang="en-US" dirty="0">
                <a:solidFill>
                  <a:srgbClr val="7030A0"/>
                </a:solidFill>
              </a:rPr>
              <a:t>GRN</a:t>
            </a:r>
          </a:p>
          <a:p>
            <a:r>
              <a:rPr lang="en-US" dirty="0">
                <a:solidFill>
                  <a:srgbClr val="C00000"/>
                </a:solidFill>
              </a:rPr>
              <a:t>Sensory</a:t>
            </a:r>
          </a:p>
          <a:p>
            <a:r>
              <a:rPr lang="en-US" dirty="0">
                <a:solidFill>
                  <a:srgbClr val="FFC5C5"/>
                </a:solidFill>
              </a:rPr>
              <a:t>Sensorimotor</a:t>
            </a:r>
          </a:p>
          <a:p>
            <a:r>
              <a:rPr lang="en-US" dirty="0">
                <a:solidFill>
                  <a:srgbClr val="00B0F0"/>
                </a:solidFill>
              </a:rPr>
              <a:t>Premotor</a:t>
            </a:r>
          </a:p>
          <a:p>
            <a:r>
              <a:rPr lang="en-US" dirty="0">
                <a:solidFill>
                  <a:srgbClr val="FFC000"/>
                </a:solidFill>
              </a:rPr>
              <a:t>Forebrain</a:t>
            </a:r>
          </a:p>
          <a:p>
            <a:r>
              <a:rPr lang="en-US" dirty="0">
                <a:solidFill>
                  <a:srgbClr val="00B050"/>
                </a:solidFill>
              </a:rPr>
              <a:t>Mossy</a:t>
            </a:r>
          </a:p>
          <a:p>
            <a:r>
              <a:rPr lang="en-US" dirty="0">
                <a:solidFill>
                  <a:srgbClr val="F4EE04"/>
                </a:solidFill>
              </a:rPr>
              <a:t>Vestibular</a:t>
            </a:r>
          </a:p>
        </p:txBody>
      </p:sp>
    </p:spTree>
    <p:extLst>
      <p:ext uri="{BB962C8B-B14F-4D97-AF65-F5344CB8AC3E}">
        <p14:creationId xmlns:p14="http://schemas.microsoft.com/office/powerpoint/2010/main" val="3553797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F851-BE9D-8B15-F520-F4DBC3202398}"/>
              </a:ext>
            </a:extLst>
          </p:cNvPr>
          <p:cNvSpPr>
            <a:spLocks noGrp="1"/>
          </p:cNvSpPr>
          <p:nvPr>
            <p:ph type="title"/>
          </p:nvPr>
        </p:nvSpPr>
        <p:spPr/>
        <p:txBody>
          <a:bodyPr/>
          <a:lstStyle/>
          <a:p>
            <a:r>
              <a:rPr lang="en-US" dirty="0"/>
              <a:t>UMAP but drop the mossy fibers</a:t>
            </a:r>
          </a:p>
        </p:txBody>
      </p:sp>
      <p:pic>
        <p:nvPicPr>
          <p:cNvPr id="5" name="Content Placeholder 4">
            <a:extLst>
              <a:ext uri="{FF2B5EF4-FFF2-40B4-BE49-F238E27FC236}">
                <a16:creationId xmlns:a16="http://schemas.microsoft.com/office/drawing/2014/main" id="{C5BAE6D3-C9B1-D1F4-939A-5FAA15890E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4215" y="1690688"/>
            <a:ext cx="7283569" cy="5013105"/>
          </a:xfrm>
          <a:prstGeom prst="rect">
            <a:avLst/>
          </a:prstGeom>
        </p:spPr>
      </p:pic>
      <p:sp>
        <p:nvSpPr>
          <p:cNvPr id="7" name="TextBox 6">
            <a:extLst>
              <a:ext uri="{FF2B5EF4-FFF2-40B4-BE49-F238E27FC236}">
                <a16:creationId xmlns:a16="http://schemas.microsoft.com/office/drawing/2014/main" id="{604113E4-E4D6-72A6-6961-D450B0927C30}"/>
              </a:ext>
            </a:extLst>
          </p:cNvPr>
          <p:cNvSpPr txBox="1"/>
          <p:nvPr/>
        </p:nvSpPr>
        <p:spPr>
          <a:xfrm>
            <a:off x="8061114" y="4503041"/>
            <a:ext cx="1568661" cy="1754326"/>
          </a:xfrm>
          <a:prstGeom prst="rect">
            <a:avLst/>
          </a:prstGeom>
          <a:noFill/>
        </p:spPr>
        <p:txBody>
          <a:bodyPr wrap="square" rtlCol="0">
            <a:spAutoFit/>
          </a:bodyPr>
          <a:lstStyle/>
          <a:p>
            <a:r>
              <a:rPr lang="en-US" dirty="0">
                <a:solidFill>
                  <a:srgbClr val="7030A0"/>
                </a:solidFill>
              </a:rPr>
              <a:t>GRN</a:t>
            </a:r>
          </a:p>
          <a:p>
            <a:r>
              <a:rPr lang="en-US" dirty="0">
                <a:solidFill>
                  <a:srgbClr val="C00000"/>
                </a:solidFill>
              </a:rPr>
              <a:t>Sensory</a:t>
            </a:r>
          </a:p>
          <a:p>
            <a:r>
              <a:rPr lang="en-US" dirty="0">
                <a:solidFill>
                  <a:srgbClr val="FFC5C5"/>
                </a:solidFill>
              </a:rPr>
              <a:t>Sensorimotor</a:t>
            </a:r>
          </a:p>
          <a:p>
            <a:r>
              <a:rPr lang="en-US" dirty="0">
                <a:solidFill>
                  <a:srgbClr val="00B0F0"/>
                </a:solidFill>
              </a:rPr>
              <a:t>Premotor</a:t>
            </a:r>
          </a:p>
          <a:p>
            <a:r>
              <a:rPr lang="en-US" dirty="0">
                <a:solidFill>
                  <a:srgbClr val="FFC000"/>
                </a:solidFill>
              </a:rPr>
              <a:t>Forebrain</a:t>
            </a:r>
            <a:endParaRPr lang="en-US" dirty="0">
              <a:solidFill>
                <a:srgbClr val="00B050"/>
              </a:solidFill>
            </a:endParaRPr>
          </a:p>
          <a:p>
            <a:r>
              <a:rPr lang="en-US" dirty="0">
                <a:solidFill>
                  <a:srgbClr val="F4EE04"/>
                </a:solidFill>
              </a:rPr>
              <a:t>Vestibular</a:t>
            </a:r>
          </a:p>
        </p:txBody>
      </p:sp>
    </p:spTree>
    <p:extLst>
      <p:ext uri="{BB962C8B-B14F-4D97-AF65-F5344CB8AC3E}">
        <p14:creationId xmlns:p14="http://schemas.microsoft.com/office/powerpoint/2010/main" val="219245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93BFD-15DF-ECD4-7EFB-52087D2F3E1B}"/>
              </a:ext>
            </a:extLst>
          </p:cNvPr>
          <p:cNvSpPr>
            <a:spLocks noGrp="1"/>
          </p:cNvSpPr>
          <p:nvPr>
            <p:ph type="title"/>
          </p:nvPr>
        </p:nvSpPr>
        <p:spPr>
          <a:xfrm>
            <a:off x="838200" y="88900"/>
            <a:ext cx="10515600" cy="1325563"/>
          </a:xfrm>
        </p:spPr>
        <p:txBody>
          <a:bodyPr/>
          <a:lstStyle/>
          <a:p>
            <a:r>
              <a:rPr lang="en-US" dirty="0"/>
              <a:t>Create large feature matrix using morphometrics</a:t>
            </a:r>
          </a:p>
        </p:txBody>
      </p:sp>
      <p:pic>
        <p:nvPicPr>
          <p:cNvPr id="5" name="Content Placeholder 4">
            <a:extLst>
              <a:ext uri="{FF2B5EF4-FFF2-40B4-BE49-F238E27FC236}">
                <a16:creationId xmlns:a16="http://schemas.microsoft.com/office/drawing/2014/main" id="{93ECED54-1803-E641-2AF3-8E4A1C97EE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24475" y="1598239"/>
            <a:ext cx="7248149" cy="5259761"/>
          </a:xfrm>
          <a:prstGeom prst="rect">
            <a:avLst/>
          </a:prstGeom>
        </p:spPr>
      </p:pic>
      <p:sp>
        <p:nvSpPr>
          <p:cNvPr id="6" name="TextBox 5">
            <a:extLst>
              <a:ext uri="{FF2B5EF4-FFF2-40B4-BE49-F238E27FC236}">
                <a16:creationId xmlns:a16="http://schemas.microsoft.com/office/drawing/2014/main" id="{0C114B5A-996D-DB2E-636F-947A74B20B37}"/>
              </a:ext>
            </a:extLst>
          </p:cNvPr>
          <p:cNvSpPr txBox="1"/>
          <p:nvPr/>
        </p:nvSpPr>
        <p:spPr>
          <a:xfrm>
            <a:off x="3686175" y="1295400"/>
            <a:ext cx="4572000" cy="369332"/>
          </a:xfrm>
          <a:prstGeom prst="rect">
            <a:avLst/>
          </a:prstGeom>
          <a:noFill/>
        </p:spPr>
        <p:txBody>
          <a:bodyPr wrap="square" rtlCol="0">
            <a:spAutoFit/>
          </a:bodyPr>
          <a:lstStyle/>
          <a:p>
            <a:r>
              <a:rPr lang="en-US" dirty="0"/>
              <a:t>Feature x feature correlation matrix</a:t>
            </a:r>
          </a:p>
        </p:txBody>
      </p:sp>
    </p:spTree>
    <p:extLst>
      <p:ext uri="{BB962C8B-B14F-4D97-AF65-F5344CB8AC3E}">
        <p14:creationId xmlns:p14="http://schemas.microsoft.com/office/powerpoint/2010/main" val="422210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2E2CB-725F-F362-2439-9E073EF90DA9}"/>
              </a:ext>
            </a:extLst>
          </p:cNvPr>
          <p:cNvSpPr>
            <a:spLocks noGrp="1"/>
          </p:cNvSpPr>
          <p:nvPr>
            <p:ph type="title"/>
          </p:nvPr>
        </p:nvSpPr>
        <p:spPr/>
        <p:txBody>
          <a:bodyPr/>
          <a:lstStyle/>
          <a:p>
            <a:r>
              <a:rPr lang="en-US" dirty="0"/>
              <a:t>Random forest classification</a:t>
            </a:r>
          </a:p>
        </p:txBody>
      </p:sp>
      <p:pic>
        <p:nvPicPr>
          <p:cNvPr id="5" name="Content Placeholder 4">
            <a:extLst>
              <a:ext uri="{FF2B5EF4-FFF2-40B4-BE49-F238E27FC236}">
                <a16:creationId xmlns:a16="http://schemas.microsoft.com/office/drawing/2014/main" id="{0311F4FA-8AD1-A96F-C3AF-F926761D4F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4701" y="1690688"/>
            <a:ext cx="6543049" cy="4364914"/>
          </a:xfrm>
          <a:prstGeom prst="rect">
            <a:avLst/>
          </a:prstGeom>
        </p:spPr>
      </p:pic>
      <p:sp>
        <p:nvSpPr>
          <p:cNvPr id="6" name="TextBox 5">
            <a:extLst>
              <a:ext uri="{FF2B5EF4-FFF2-40B4-BE49-F238E27FC236}">
                <a16:creationId xmlns:a16="http://schemas.microsoft.com/office/drawing/2014/main" id="{DFAA7285-927C-B6DB-AC45-1F64B590CE57}"/>
              </a:ext>
            </a:extLst>
          </p:cNvPr>
          <p:cNvSpPr txBox="1"/>
          <p:nvPr/>
        </p:nvSpPr>
        <p:spPr>
          <a:xfrm rot="16200000">
            <a:off x="2176203" y="3244334"/>
            <a:ext cx="1225426" cy="369332"/>
          </a:xfrm>
          <a:prstGeom prst="rect">
            <a:avLst/>
          </a:prstGeom>
          <a:noFill/>
        </p:spPr>
        <p:txBody>
          <a:bodyPr wrap="square" rtlCol="0">
            <a:spAutoFit/>
          </a:bodyPr>
          <a:lstStyle/>
          <a:p>
            <a:r>
              <a:rPr lang="en-US" dirty="0"/>
              <a:t>accuracy</a:t>
            </a:r>
          </a:p>
        </p:txBody>
      </p:sp>
      <p:sp>
        <p:nvSpPr>
          <p:cNvPr id="7" name="TextBox 6">
            <a:extLst>
              <a:ext uri="{FF2B5EF4-FFF2-40B4-BE49-F238E27FC236}">
                <a16:creationId xmlns:a16="http://schemas.microsoft.com/office/drawing/2014/main" id="{F4E2ABA2-2487-F744-9B3C-67D0EDD48A94}"/>
              </a:ext>
            </a:extLst>
          </p:cNvPr>
          <p:cNvSpPr txBox="1"/>
          <p:nvPr/>
        </p:nvSpPr>
        <p:spPr>
          <a:xfrm>
            <a:off x="5804363" y="5953125"/>
            <a:ext cx="2933700" cy="369332"/>
          </a:xfrm>
          <a:prstGeom prst="rect">
            <a:avLst/>
          </a:prstGeom>
          <a:noFill/>
        </p:spPr>
        <p:txBody>
          <a:bodyPr wrap="square" rtlCol="0">
            <a:spAutoFit/>
          </a:bodyPr>
          <a:lstStyle/>
          <a:p>
            <a:r>
              <a:rPr lang="en-US" dirty="0"/>
              <a:t>Training data split #</a:t>
            </a:r>
          </a:p>
        </p:txBody>
      </p:sp>
      <p:sp>
        <p:nvSpPr>
          <p:cNvPr id="8" name="TextBox 7">
            <a:extLst>
              <a:ext uri="{FF2B5EF4-FFF2-40B4-BE49-F238E27FC236}">
                <a16:creationId xmlns:a16="http://schemas.microsoft.com/office/drawing/2014/main" id="{953373CC-5818-0165-1174-3010178275C7}"/>
              </a:ext>
            </a:extLst>
          </p:cNvPr>
          <p:cNvSpPr txBox="1"/>
          <p:nvPr/>
        </p:nvSpPr>
        <p:spPr>
          <a:xfrm>
            <a:off x="10067925" y="3272980"/>
            <a:ext cx="1562100" cy="1200329"/>
          </a:xfrm>
          <a:prstGeom prst="rect">
            <a:avLst/>
          </a:prstGeom>
          <a:noFill/>
        </p:spPr>
        <p:txBody>
          <a:bodyPr wrap="square" rtlCol="0">
            <a:spAutoFit/>
          </a:bodyPr>
          <a:lstStyle/>
          <a:p>
            <a:r>
              <a:rPr lang="en-US" dirty="0"/>
              <a:t>*scores on test data over 10 different splits</a:t>
            </a:r>
          </a:p>
        </p:txBody>
      </p:sp>
    </p:spTree>
    <p:extLst>
      <p:ext uri="{BB962C8B-B14F-4D97-AF65-F5344CB8AC3E}">
        <p14:creationId xmlns:p14="http://schemas.microsoft.com/office/powerpoint/2010/main" val="2769535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17060-F32B-B88F-77BD-4E269046F164}"/>
              </a:ext>
            </a:extLst>
          </p:cNvPr>
          <p:cNvSpPr>
            <a:spLocks noGrp="1"/>
          </p:cNvSpPr>
          <p:nvPr>
            <p:ph type="title"/>
          </p:nvPr>
        </p:nvSpPr>
        <p:spPr/>
        <p:txBody>
          <a:bodyPr/>
          <a:lstStyle/>
          <a:p>
            <a:r>
              <a:rPr lang="en-US" dirty="0"/>
              <a:t>Classifier tends to get the same cells wrong</a:t>
            </a:r>
          </a:p>
        </p:txBody>
      </p:sp>
      <p:pic>
        <p:nvPicPr>
          <p:cNvPr id="10" name="Content Placeholder 9">
            <a:extLst>
              <a:ext uri="{FF2B5EF4-FFF2-40B4-BE49-F238E27FC236}">
                <a16:creationId xmlns:a16="http://schemas.microsoft.com/office/drawing/2014/main" id="{ADA51785-0043-9644-F9EE-8C5FDE1046C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14278" y="1690688"/>
            <a:ext cx="4724643" cy="4273770"/>
          </a:xfrm>
          <a:prstGeom prst="rect">
            <a:avLst/>
          </a:prstGeom>
        </p:spPr>
      </p:pic>
      <p:sp>
        <p:nvSpPr>
          <p:cNvPr id="11" name="TextBox 10">
            <a:extLst>
              <a:ext uri="{FF2B5EF4-FFF2-40B4-BE49-F238E27FC236}">
                <a16:creationId xmlns:a16="http://schemas.microsoft.com/office/drawing/2014/main" id="{5D2FE264-B155-8576-1A22-D394F3381C2F}"/>
              </a:ext>
            </a:extLst>
          </p:cNvPr>
          <p:cNvSpPr txBox="1"/>
          <p:nvPr/>
        </p:nvSpPr>
        <p:spPr>
          <a:xfrm rot="16200000">
            <a:off x="64628" y="2949348"/>
            <a:ext cx="1325563" cy="430887"/>
          </a:xfrm>
          <a:prstGeom prst="rect">
            <a:avLst/>
          </a:prstGeom>
          <a:noFill/>
        </p:spPr>
        <p:txBody>
          <a:bodyPr wrap="square" rtlCol="0">
            <a:spAutoFit/>
          </a:bodyPr>
          <a:lstStyle/>
          <a:p>
            <a:r>
              <a:rPr lang="en-US" sz="1100" dirty="0"/>
              <a:t>% times wrongly classified</a:t>
            </a:r>
          </a:p>
        </p:txBody>
      </p:sp>
      <p:pic>
        <p:nvPicPr>
          <p:cNvPr id="15" name="Picture 14">
            <a:extLst>
              <a:ext uri="{FF2B5EF4-FFF2-40B4-BE49-F238E27FC236}">
                <a16:creationId xmlns:a16="http://schemas.microsoft.com/office/drawing/2014/main" id="{B355AE13-0F3D-9193-9C35-8661055571FA}"/>
              </a:ext>
            </a:extLst>
          </p:cNvPr>
          <p:cNvPicPr>
            <a:picLocks noChangeAspect="1"/>
          </p:cNvPicPr>
          <p:nvPr/>
        </p:nvPicPr>
        <p:blipFill>
          <a:blip r:embed="rId4">
            <a:extLst>
              <a:ext uri="{28A0092B-C50C-407E-A947-70E740481C1C}">
                <a14:useLocalDpi xmlns:a14="http://schemas.microsoft.com/office/drawing/2010/main" val="0"/>
              </a:ext>
            </a:extLst>
          </a:blip>
          <a:srcRect l="29792" t="58472" r="36458"/>
          <a:stretch>
            <a:fillRect/>
          </a:stretch>
        </p:blipFill>
        <p:spPr>
          <a:xfrm>
            <a:off x="7410328" y="1690688"/>
            <a:ext cx="4019550" cy="3709400"/>
          </a:xfrm>
          <a:prstGeom prst="rect">
            <a:avLst/>
          </a:prstGeom>
        </p:spPr>
      </p:pic>
      <p:sp>
        <p:nvSpPr>
          <p:cNvPr id="16" name="TextBox 15">
            <a:extLst>
              <a:ext uri="{FF2B5EF4-FFF2-40B4-BE49-F238E27FC236}">
                <a16:creationId xmlns:a16="http://schemas.microsoft.com/office/drawing/2014/main" id="{9BDE8783-D721-1D1A-E48C-95AFBBED49BA}"/>
              </a:ext>
            </a:extLst>
          </p:cNvPr>
          <p:cNvSpPr txBox="1"/>
          <p:nvPr/>
        </p:nvSpPr>
        <p:spPr>
          <a:xfrm>
            <a:off x="6305550" y="2542601"/>
            <a:ext cx="1314450" cy="1477328"/>
          </a:xfrm>
          <a:prstGeom prst="rect">
            <a:avLst/>
          </a:prstGeom>
          <a:noFill/>
        </p:spPr>
        <p:txBody>
          <a:bodyPr wrap="square" rtlCol="0">
            <a:spAutoFit/>
          </a:bodyPr>
          <a:lstStyle/>
          <a:p>
            <a:r>
              <a:rPr lang="en-US" dirty="0"/>
              <a:t>Cells wrongly classified &gt;50% of time</a:t>
            </a:r>
          </a:p>
        </p:txBody>
      </p:sp>
    </p:spTree>
    <p:extLst>
      <p:ext uri="{BB962C8B-B14F-4D97-AF65-F5344CB8AC3E}">
        <p14:creationId xmlns:p14="http://schemas.microsoft.com/office/powerpoint/2010/main" val="116149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17EA6-33F4-A1FC-7C62-A398C6D43AF0}"/>
              </a:ext>
            </a:extLst>
          </p:cNvPr>
          <p:cNvSpPr>
            <a:spLocks noGrp="1"/>
          </p:cNvSpPr>
          <p:nvPr>
            <p:ph type="title"/>
          </p:nvPr>
        </p:nvSpPr>
        <p:spPr/>
        <p:txBody>
          <a:bodyPr/>
          <a:lstStyle/>
          <a:p>
            <a:r>
              <a:rPr lang="en-US" dirty="0"/>
              <a:t>Importance of features by mean Gini entropy loss during random forest classification</a:t>
            </a:r>
          </a:p>
        </p:txBody>
      </p:sp>
      <p:pic>
        <p:nvPicPr>
          <p:cNvPr id="5" name="Content Placeholder 4">
            <a:extLst>
              <a:ext uri="{FF2B5EF4-FFF2-40B4-BE49-F238E27FC236}">
                <a16:creationId xmlns:a16="http://schemas.microsoft.com/office/drawing/2014/main" id="{5665A448-1B6E-6CC7-D04D-FAD134B11A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077" y="2228914"/>
            <a:ext cx="12101923" cy="2400172"/>
          </a:xfrm>
          <a:prstGeom prst="rect">
            <a:avLst/>
          </a:prstGeom>
        </p:spPr>
      </p:pic>
      <p:sp>
        <p:nvSpPr>
          <p:cNvPr id="6" name="TextBox 5">
            <a:extLst>
              <a:ext uri="{FF2B5EF4-FFF2-40B4-BE49-F238E27FC236}">
                <a16:creationId xmlns:a16="http://schemas.microsoft.com/office/drawing/2014/main" id="{90820896-0FDC-FB99-2960-5FADC17FD684}"/>
              </a:ext>
            </a:extLst>
          </p:cNvPr>
          <p:cNvSpPr txBox="1"/>
          <p:nvPr/>
        </p:nvSpPr>
        <p:spPr>
          <a:xfrm>
            <a:off x="651588" y="5167312"/>
            <a:ext cx="3323512" cy="1200329"/>
          </a:xfrm>
          <a:prstGeom prst="rect">
            <a:avLst/>
          </a:prstGeom>
          <a:noFill/>
        </p:spPr>
        <p:txBody>
          <a:bodyPr wrap="square" rtlCol="0">
            <a:spAutoFit/>
          </a:bodyPr>
          <a:lstStyle/>
          <a:p>
            <a:r>
              <a:rPr lang="en-US" dirty="0"/>
              <a:t>- Drop all of these under MY (MY motor), begin collapsing features that measure similar or the same thing(s)</a:t>
            </a:r>
          </a:p>
        </p:txBody>
      </p:sp>
    </p:spTree>
    <p:extLst>
      <p:ext uri="{BB962C8B-B14F-4D97-AF65-F5344CB8AC3E}">
        <p14:creationId xmlns:p14="http://schemas.microsoft.com/office/powerpoint/2010/main" val="35855338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79D47-137A-C0BE-895C-E71CC5DE8FE6}"/>
              </a:ext>
            </a:extLst>
          </p:cNvPr>
          <p:cNvSpPr>
            <a:spLocks noGrp="1"/>
          </p:cNvSpPr>
          <p:nvPr>
            <p:ph type="title"/>
          </p:nvPr>
        </p:nvSpPr>
        <p:spPr/>
        <p:txBody>
          <a:bodyPr/>
          <a:lstStyle/>
          <a:p>
            <a:r>
              <a:rPr lang="en-US" dirty="0"/>
              <a:t>Feature x feature correlations after dropping</a:t>
            </a:r>
          </a:p>
        </p:txBody>
      </p:sp>
      <p:pic>
        <p:nvPicPr>
          <p:cNvPr id="13" name="Content Placeholder 12">
            <a:extLst>
              <a:ext uri="{FF2B5EF4-FFF2-40B4-BE49-F238E27FC236}">
                <a16:creationId xmlns:a16="http://schemas.microsoft.com/office/drawing/2014/main" id="{3F5A951F-23F4-36FD-F4CB-83C659E7D1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27549" y="1304571"/>
            <a:ext cx="7445126" cy="5356135"/>
          </a:xfrm>
          <a:prstGeom prst="rect">
            <a:avLst/>
          </a:prstGeom>
        </p:spPr>
      </p:pic>
    </p:spTree>
    <p:extLst>
      <p:ext uri="{BB962C8B-B14F-4D97-AF65-F5344CB8AC3E}">
        <p14:creationId xmlns:p14="http://schemas.microsoft.com/office/powerpoint/2010/main" val="3683071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B4B57-2862-2BE7-F6EB-05603E055BE8}"/>
              </a:ext>
            </a:extLst>
          </p:cNvPr>
          <p:cNvSpPr>
            <a:spLocks noGrp="1"/>
          </p:cNvSpPr>
          <p:nvPr>
            <p:ph type="title"/>
          </p:nvPr>
        </p:nvSpPr>
        <p:spPr/>
        <p:txBody>
          <a:bodyPr>
            <a:normAutofit fontScale="90000"/>
          </a:bodyPr>
          <a:lstStyle/>
          <a:p>
            <a:r>
              <a:rPr lang="en-US" dirty="0"/>
              <a:t>Current feature set (length and ends combined here, but not when classifying/clustering)</a:t>
            </a:r>
          </a:p>
        </p:txBody>
      </p:sp>
      <p:sp>
        <p:nvSpPr>
          <p:cNvPr id="3" name="Content Placeholder 2">
            <a:extLst>
              <a:ext uri="{FF2B5EF4-FFF2-40B4-BE49-F238E27FC236}">
                <a16:creationId xmlns:a16="http://schemas.microsoft.com/office/drawing/2014/main" id="{07E33AFC-F657-F27A-0D83-144AE1A70DC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90DB76E-2150-E933-7027-22A65F551B54}"/>
              </a:ext>
            </a:extLst>
          </p:cNvPr>
          <p:cNvPicPr>
            <a:picLocks noChangeAspect="1"/>
          </p:cNvPicPr>
          <p:nvPr/>
        </p:nvPicPr>
        <p:blipFill>
          <a:blip r:embed="rId2"/>
          <a:stretch>
            <a:fillRect/>
          </a:stretch>
        </p:blipFill>
        <p:spPr>
          <a:xfrm>
            <a:off x="0" y="3429000"/>
            <a:ext cx="12192000" cy="2418038"/>
          </a:xfrm>
          <a:prstGeom prst="rect">
            <a:avLst/>
          </a:prstGeom>
        </p:spPr>
      </p:pic>
    </p:spTree>
    <p:extLst>
      <p:ext uri="{BB962C8B-B14F-4D97-AF65-F5344CB8AC3E}">
        <p14:creationId xmlns:p14="http://schemas.microsoft.com/office/powerpoint/2010/main" val="3899752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29B9E-3393-20C7-6545-4801A44D4615}"/>
              </a:ext>
            </a:extLst>
          </p:cNvPr>
          <p:cNvSpPr>
            <a:spLocks noGrp="1"/>
          </p:cNvSpPr>
          <p:nvPr>
            <p:ph type="title"/>
          </p:nvPr>
        </p:nvSpPr>
        <p:spPr/>
        <p:txBody>
          <a:bodyPr/>
          <a:lstStyle/>
          <a:p>
            <a:r>
              <a:rPr lang="en-US" dirty="0"/>
              <a:t>Since features are correlated, clustering on cell correlations doesn’t work</a:t>
            </a:r>
          </a:p>
        </p:txBody>
      </p:sp>
      <p:pic>
        <p:nvPicPr>
          <p:cNvPr id="5" name="Picture 4">
            <a:extLst>
              <a:ext uri="{FF2B5EF4-FFF2-40B4-BE49-F238E27FC236}">
                <a16:creationId xmlns:a16="http://schemas.microsoft.com/office/drawing/2014/main" id="{01D5AD2F-EAAE-EFD5-20F0-27B3EDCB31FC}"/>
              </a:ext>
            </a:extLst>
          </p:cNvPr>
          <p:cNvPicPr>
            <a:picLocks noChangeAspect="1"/>
          </p:cNvPicPr>
          <p:nvPr/>
        </p:nvPicPr>
        <p:blipFill>
          <a:blip r:embed="rId3"/>
          <a:stretch>
            <a:fillRect/>
          </a:stretch>
        </p:blipFill>
        <p:spPr>
          <a:xfrm>
            <a:off x="2731665" y="1690688"/>
            <a:ext cx="7065513" cy="5148262"/>
          </a:xfrm>
          <a:prstGeom prst="rect">
            <a:avLst/>
          </a:prstGeom>
        </p:spPr>
      </p:pic>
    </p:spTree>
    <p:extLst>
      <p:ext uri="{BB962C8B-B14F-4D97-AF65-F5344CB8AC3E}">
        <p14:creationId xmlns:p14="http://schemas.microsoft.com/office/powerpoint/2010/main" val="1528515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FED05-B288-AB83-9AD7-2F002940564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792305C-1EFC-8861-0803-128977E4DCD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4126" t="54009" r="30956"/>
          <a:stretch>
            <a:fillRect/>
          </a:stretch>
        </p:blipFill>
        <p:spPr>
          <a:xfrm>
            <a:off x="7264400" y="3012440"/>
            <a:ext cx="3863340" cy="2966694"/>
          </a:xfrm>
          <a:prstGeom prst="rect">
            <a:avLst/>
          </a:prstGeom>
        </p:spPr>
      </p:pic>
      <p:sp>
        <p:nvSpPr>
          <p:cNvPr id="6" name="TextBox 5">
            <a:extLst>
              <a:ext uri="{FF2B5EF4-FFF2-40B4-BE49-F238E27FC236}">
                <a16:creationId xmlns:a16="http://schemas.microsoft.com/office/drawing/2014/main" id="{6DA2B1E4-ECEC-7840-D818-FC3B2DEF5167}"/>
              </a:ext>
            </a:extLst>
          </p:cNvPr>
          <p:cNvSpPr txBox="1"/>
          <p:nvPr/>
        </p:nvSpPr>
        <p:spPr>
          <a:xfrm>
            <a:off x="8051800" y="2579132"/>
            <a:ext cx="2641600" cy="369332"/>
          </a:xfrm>
          <a:prstGeom prst="rect">
            <a:avLst/>
          </a:prstGeom>
          <a:noFill/>
        </p:spPr>
        <p:txBody>
          <a:bodyPr wrap="square" rtlCol="0">
            <a:spAutoFit/>
          </a:bodyPr>
          <a:lstStyle/>
          <a:p>
            <a:r>
              <a:rPr lang="en-US" dirty="0"/>
              <a:t>Bottom right cluster</a:t>
            </a:r>
          </a:p>
        </p:txBody>
      </p:sp>
      <p:pic>
        <p:nvPicPr>
          <p:cNvPr id="8" name="Picture 7">
            <a:extLst>
              <a:ext uri="{FF2B5EF4-FFF2-40B4-BE49-F238E27FC236}">
                <a16:creationId xmlns:a16="http://schemas.microsoft.com/office/drawing/2014/main" id="{18E665E7-2B3E-D48F-2E58-6F718447E9CE}"/>
              </a:ext>
            </a:extLst>
          </p:cNvPr>
          <p:cNvPicPr>
            <a:picLocks noChangeAspect="1"/>
          </p:cNvPicPr>
          <p:nvPr/>
        </p:nvPicPr>
        <p:blipFill>
          <a:blip r:embed="rId3">
            <a:extLst>
              <a:ext uri="{28A0092B-C50C-407E-A947-70E740481C1C}">
                <a14:useLocalDpi xmlns:a14="http://schemas.microsoft.com/office/drawing/2010/main" val="0"/>
              </a:ext>
            </a:extLst>
          </a:blip>
          <a:srcRect l="22500" t="27221" r="30278"/>
          <a:stretch>
            <a:fillRect/>
          </a:stretch>
        </p:blipFill>
        <p:spPr>
          <a:xfrm>
            <a:off x="1064260" y="1866900"/>
            <a:ext cx="4318000" cy="4991100"/>
          </a:xfrm>
          <a:prstGeom prst="rect">
            <a:avLst/>
          </a:prstGeom>
        </p:spPr>
      </p:pic>
      <p:sp>
        <p:nvSpPr>
          <p:cNvPr id="9" name="TextBox 8">
            <a:extLst>
              <a:ext uri="{FF2B5EF4-FFF2-40B4-BE49-F238E27FC236}">
                <a16:creationId xmlns:a16="http://schemas.microsoft.com/office/drawing/2014/main" id="{4799787F-2D54-BD50-8DF7-F3D6BE2BCE8F}"/>
              </a:ext>
            </a:extLst>
          </p:cNvPr>
          <p:cNvSpPr txBox="1"/>
          <p:nvPr/>
        </p:nvSpPr>
        <p:spPr>
          <a:xfrm>
            <a:off x="5448300" y="3543300"/>
            <a:ext cx="927100" cy="923330"/>
          </a:xfrm>
          <a:prstGeom prst="rect">
            <a:avLst/>
          </a:prstGeom>
          <a:noFill/>
        </p:spPr>
        <p:txBody>
          <a:bodyPr wrap="square" rtlCol="0">
            <a:spAutoFit/>
          </a:bodyPr>
          <a:lstStyle/>
          <a:p>
            <a:r>
              <a:rPr lang="en-US" dirty="0"/>
              <a:t>Middle small cluster</a:t>
            </a:r>
          </a:p>
        </p:txBody>
      </p:sp>
    </p:spTree>
    <p:extLst>
      <p:ext uri="{BB962C8B-B14F-4D97-AF65-F5344CB8AC3E}">
        <p14:creationId xmlns:p14="http://schemas.microsoft.com/office/powerpoint/2010/main" val="4144626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6AB79-4554-E038-B3D3-C3024C41C856}"/>
              </a:ext>
            </a:extLst>
          </p:cNvPr>
          <p:cNvSpPr>
            <a:spLocks noGrp="1"/>
          </p:cNvSpPr>
          <p:nvPr>
            <p:ph type="title"/>
          </p:nvPr>
        </p:nvSpPr>
        <p:spPr/>
        <p:txBody>
          <a:bodyPr/>
          <a:lstStyle/>
          <a:p>
            <a:r>
              <a:rPr lang="en-US" dirty="0"/>
              <a:t>Phox2b cells (colored by assigned phenotype)</a:t>
            </a:r>
          </a:p>
        </p:txBody>
      </p:sp>
      <p:pic>
        <p:nvPicPr>
          <p:cNvPr id="5" name="Content Placeholder 4">
            <a:extLst>
              <a:ext uri="{FF2B5EF4-FFF2-40B4-BE49-F238E27FC236}">
                <a16:creationId xmlns:a16="http://schemas.microsoft.com/office/drawing/2014/main" id="{1ABB809F-D659-F5A4-6583-DED8547E275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9205" t="42393" r="35115"/>
          <a:stretch>
            <a:fillRect/>
          </a:stretch>
        </p:blipFill>
        <p:spPr>
          <a:xfrm>
            <a:off x="3919707" y="1460500"/>
            <a:ext cx="4352586" cy="5270500"/>
          </a:xfrm>
          <a:prstGeom prst="rect">
            <a:avLst/>
          </a:prstGeom>
        </p:spPr>
      </p:pic>
    </p:spTree>
    <p:extLst>
      <p:ext uri="{BB962C8B-B14F-4D97-AF65-F5344CB8AC3E}">
        <p14:creationId xmlns:p14="http://schemas.microsoft.com/office/powerpoint/2010/main" val="5871199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39336E8-7133-2E50-467C-3BF92C02FB3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59915" y="720030"/>
            <a:ext cx="8126910" cy="5417940"/>
          </a:xfrm>
          <a:prstGeom prst="rect">
            <a:avLst/>
          </a:prstGeom>
        </p:spPr>
      </p:pic>
      <p:sp>
        <p:nvSpPr>
          <p:cNvPr id="6" name="TextBox 5">
            <a:extLst>
              <a:ext uri="{FF2B5EF4-FFF2-40B4-BE49-F238E27FC236}">
                <a16:creationId xmlns:a16="http://schemas.microsoft.com/office/drawing/2014/main" id="{60D3DFD8-6D99-17CC-E63D-370FF60B076E}"/>
              </a:ext>
            </a:extLst>
          </p:cNvPr>
          <p:cNvSpPr txBox="1"/>
          <p:nvPr/>
        </p:nvSpPr>
        <p:spPr>
          <a:xfrm>
            <a:off x="2724150" y="5768638"/>
            <a:ext cx="1371600" cy="369332"/>
          </a:xfrm>
          <a:prstGeom prst="rect">
            <a:avLst/>
          </a:prstGeom>
          <a:noFill/>
        </p:spPr>
        <p:txBody>
          <a:bodyPr wrap="square" rtlCol="0">
            <a:spAutoFit/>
          </a:bodyPr>
          <a:lstStyle/>
          <a:p>
            <a:r>
              <a:rPr lang="en-US" dirty="0"/>
              <a:t>premotor</a:t>
            </a:r>
          </a:p>
        </p:txBody>
      </p:sp>
      <p:sp>
        <p:nvSpPr>
          <p:cNvPr id="8" name="TextBox 7">
            <a:extLst>
              <a:ext uri="{FF2B5EF4-FFF2-40B4-BE49-F238E27FC236}">
                <a16:creationId xmlns:a16="http://schemas.microsoft.com/office/drawing/2014/main" id="{D61A0D2B-C4C8-AE74-9045-DC3275D507D9}"/>
              </a:ext>
            </a:extLst>
          </p:cNvPr>
          <p:cNvSpPr txBox="1"/>
          <p:nvPr/>
        </p:nvSpPr>
        <p:spPr>
          <a:xfrm>
            <a:off x="4592507" y="5768638"/>
            <a:ext cx="1371600" cy="369332"/>
          </a:xfrm>
          <a:prstGeom prst="rect">
            <a:avLst/>
          </a:prstGeom>
          <a:noFill/>
        </p:spPr>
        <p:txBody>
          <a:bodyPr wrap="square" rtlCol="0">
            <a:spAutoFit/>
          </a:bodyPr>
          <a:lstStyle/>
          <a:p>
            <a:r>
              <a:rPr lang="en-US" dirty="0"/>
              <a:t>GRN</a:t>
            </a:r>
          </a:p>
        </p:txBody>
      </p:sp>
      <p:sp>
        <p:nvSpPr>
          <p:cNvPr id="10" name="TextBox 9">
            <a:extLst>
              <a:ext uri="{FF2B5EF4-FFF2-40B4-BE49-F238E27FC236}">
                <a16:creationId xmlns:a16="http://schemas.microsoft.com/office/drawing/2014/main" id="{E45BF884-61A0-DCB4-8D51-DC0F58872B7D}"/>
              </a:ext>
            </a:extLst>
          </p:cNvPr>
          <p:cNvSpPr txBox="1"/>
          <p:nvPr/>
        </p:nvSpPr>
        <p:spPr>
          <a:xfrm>
            <a:off x="2593910" y="494523"/>
            <a:ext cx="1371600" cy="1200329"/>
          </a:xfrm>
          <a:prstGeom prst="rect">
            <a:avLst/>
          </a:prstGeom>
          <a:noFill/>
        </p:spPr>
        <p:txBody>
          <a:bodyPr wrap="square" rtlCol="0">
            <a:spAutoFit/>
          </a:bodyPr>
          <a:lstStyle/>
          <a:p>
            <a:r>
              <a:rPr lang="en-US" dirty="0"/>
              <a:t>Times appeared in test set, actual label</a:t>
            </a:r>
          </a:p>
        </p:txBody>
      </p:sp>
      <p:sp>
        <p:nvSpPr>
          <p:cNvPr id="12" name="TextBox 11">
            <a:extLst>
              <a:ext uri="{FF2B5EF4-FFF2-40B4-BE49-F238E27FC236}">
                <a16:creationId xmlns:a16="http://schemas.microsoft.com/office/drawing/2014/main" id="{BB5D1BF0-3657-E4E3-A0A8-F84C954BA14C}"/>
              </a:ext>
            </a:extLst>
          </p:cNvPr>
          <p:cNvSpPr txBox="1"/>
          <p:nvPr/>
        </p:nvSpPr>
        <p:spPr>
          <a:xfrm>
            <a:off x="5278307" y="2950446"/>
            <a:ext cx="2453951" cy="923330"/>
          </a:xfrm>
          <a:prstGeom prst="rect">
            <a:avLst/>
          </a:prstGeom>
          <a:noFill/>
        </p:spPr>
        <p:txBody>
          <a:bodyPr wrap="square" rtlCol="0">
            <a:spAutoFit/>
          </a:bodyPr>
          <a:lstStyle/>
          <a:p>
            <a:r>
              <a:rPr lang="en-US" dirty="0"/>
              <a:t>What it was classified as when classified wrong</a:t>
            </a:r>
          </a:p>
        </p:txBody>
      </p:sp>
    </p:spTree>
    <p:extLst>
      <p:ext uri="{BB962C8B-B14F-4D97-AF65-F5344CB8AC3E}">
        <p14:creationId xmlns:p14="http://schemas.microsoft.com/office/powerpoint/2010/main" val="7962007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16839-FC43-20E1-7B24-9FB127F78A7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7672005-392D-E574-C029-DF448104008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621" t="36419" r="47159" b="21231"/>
          <a:stretch>
            <a:fillRect/>
          </a:stretch>
        </p:blipFill>
        <p:spPr>
          <a:xfrm>
            <a:off x="746448" y="2029408"/>
            <a:ext cx="4288562" cy="3867539"/>
          </a:xfrm>
          <a:prstGeom prst="rect">
            <a:avLst/>
          </a:prstGeom>
        </p:spPr>
      </p:pic>
      <p:pic>
        <p:nvPicPr>
          <p:cNvPr id="7" name="Picture 6">
            <a:extLst>
              <a:ext uri="{FF2B5EF4-FFF2-40B4-BE49-F238E27FC236}">
                <a16:creationId xmlns:a16="http://schemas.microsoft.com/office/drawing/2014/main" id="{20C999C6-C8F7-28DB-26F0-62CD5B60A5AF}"/>
              </a:ext>
            </a:extLst>
          </p:cNvPr>
          <p:cNvPicPr>
            <a:picLocks noChangeAspect="1"/>
          </p:cNvPicPr>
          <p:nvPr/>
        </p:nvPicPr>
        <p:blipFill>
          <a:blip r:embed="rId3"/>
          <a:stretch>
            <a:fillRect/>
          </a:stretch>
        </p:blipFill>
        <p:spPr>
          <a:xfrm>
            <a:off x="5290175" y="1898779"/>
            <a:ext cx="1238423" cy="3820058"/>
          </a:xfrm>
          <a:prstGeom prst="rect">
            <a:avLst/>
          </a:prstGeom>
        </p:spPr>
      </p:pic>
      <p:pic>
        <p:nvPicPr>
          <p:cNvPr id="9" name="Picture 8">
            <a:extLst>
              <a:ext uri="{FF2B5EF4-FFF2-40B4-BE49-F238E27FC236}">
                <a16:creationId xmlns:a16="http://schemas.microsoft.com/office/drawing/2014/main" id="{1C159DEE-EDF0-CD59-8F82-B1340F197432}"/>
              </a:ext>
            </a:extLst>
          </p:cNvPr>
          <p:cNvPicPr>
            <a:picLocks noChangeAspect="1"/>
          </p:cNvPicPr>
          <p:nvPr/>
        </p:nvPicPr>
        <p:blipFill>
          <a:blip r:embed="rId4">
            <a:extLst>
              <a:ext uri="{28A0092B-C50C-407E-A947-70E740481C1C}">
                <a14:useLocalDpi xmlns:a14="http://schemas.microsoft.com/office/drawing/2010/main" val="0"/>
              </a:ext>
            </a:extLst>
          </a:blip>
          <a:srcRect l="34354" t="58367" r="41361" b="7483"/>
          <a:stretch>
            <a:fillRect/>
          </a:stretch>
        </p:blipFill>
        <p:spPr>
          <a:xfrm>
            <a:off x="6904652" y="2029407"/>
            <a:ext cx="3498343" cy="3689429"/>
          </a:xfrm>
          <a:prstGeom prst="rect">
            <a:avLst/>
          </a:prstGeom>
        </p:spPr>
      </p:pic>
      <p:sp>
        <p:nvSpPr>
          <p:cNvPr id="10" name="Rectangle 9">
            <a:extLst>
              <a:ext uri="{FF2B5EF4-FFF2-40B4-BE49-F238E27FC236}">
                <a16:creationId xmlns:a16="http://schemas.microsoft.com/office/drawing/2014/main" id="{080E29CC-C771-9862-DE34-1B0FDBC995AF}"/>
              </a:ext>
            </a:extLst>
          </p:cNvPr>
          <p:cNvSpPr/>
          <p:nvPr/>
        </p:nvSpPr>
        <p:spPr>
          <a:xfrm>
            <a:off x="5251437" y="4329404"/>
            <a:ext cx="1315898" cy="27058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95904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0FE7B-5245-F39F-DFD8-A5A511EA44B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018D0B1-5775-0F0B-02B3-2485EF7CAE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934" y="81709"/>
            <a:ext cx="3092124" cy="2061416"/>
          </a:xfrm>
          <a:prstGeom prst="rect">
            <a:avLst/>
          </a:prstGeom>
        </p:spPr>
      </p:pic>
      <p:pic>
        <p:nvPicPr>
          <p:cNvPr id="7" name="Picture 6">
            <a:extLst>
              <a:ext uri="{FF2B5EF4-FFF2-40B4-BE49-F238E27FC236}">
                <a16:creationId xmlns:a16="http://schemas.microsoft.com/office/drawing/2014/main" id="{D487FF6A-62E0-AEC2-8627-5DFDBB0005A6}"/>
              </a:ext>
            </a:extLst>
          </p:cNvPr>
          <p:cNvPicPr>
            <a:picLocks noChangeAspect="1"/>
          </p:cNvPicPr>
          <p:nvPr/>
        </p:nvPicPr>
        <p:blipFill>
          <a:blip r:embed="rId3">
            <a:extLst>
              <a:ext uri="{28A0092B-C50C-407E-A947-70E740481C1C}">
                <a14:useLocalDpi xmlns:a14="http://schemas.microsoft.com/office/drawing/2010/main" val="0"/>
              </a:ext>
            </a:extLst>
          </a:blip>
          <a:srcRect l="30729" t="39306" r="33229" b="7361"/>
          <a:stretch>
            <a:fillRect/>
          </a:stretch>
        </p:blipFill>
        <p:spPr>
          <a:xfrm>
            <a:off x="117171" y="2426541"/>
            <a:ext cx="3295650" cy="3657601"/>
          </a:xfrm>
          <a:prstGeom prst="rect">
            <a:avLst/>
          </a:prstGeom>
        </p:spPr>
      </p:pic>
      <p:pic>
        <p:nvPicPr>
          <p:cNvPr id="9" name="Picture 8">
            <a:extLst>
              <a:ext uri="{FF2B5EF4-FFF2-40B4-BE49-F238E27FC236}">
                <a16:creationId xmlns:a16="http://schemas.microsoft.com/office/drawing/2014/main" id="{4F10A719-B25C-F44E-3FD5-3201ABB3B256}"/>
              </a:ext>
            </a:extLst>
          </p:cNvPr>
          <p:cNvPicPr>
            <a:picLocks noChangeAspect="1"/>
          </p:cNvPicPr>
          <p:nvPr/>
        </p:nvPicPr>
        <p:blipFill>
          <a:blip r:embed="rId4">
            <a:extLst>
              <a:ext uri="{28A0092B-C50C-407E-A947-70E740481C1C}">
                <a14:useLocalDpi xmlns:a14="http://schemas.microsoft.com/office/drawing/2010/main" val="0"/>
              </a:ext>
            </a:extLst>
          </a:blip>
          <a:srcRect l="34167" t="65000" r="41354"/>
          <a:stretch>
            <a:fillRect/>
          </a:stretch>
        </p:blipFill>
        <p:spPr>
          <a:xfrm>
            <a:off x="3450374" y="2426540"/>
            <a:ext cx="3410858" cy="3657601"/>
          </a:xfrm>
          <a:prstGeom prst="rect">
            <a:avLst/>
          </a:prstGeom>
        </p:spPr>
      </p:pic>
      <p:pic>
        <p:nvPicPr>
          <p:cNvPr id="11" name="Picture 10">
            <a:extLst>
              <a:ext uri="{FF2B5EF4-FFF2-40B4-BE49-F238E27FC236}">
                <a16:creationId xmlns:a16="http://schemas.microsoft.com/office/drawing/2014/main" id="{20539083-8003-6B72-B850-A97D2A1448F9}"/>
              </a:ext>
            </a:extLst>
          </p:cNvPr>
          <p:cNvPicPr>
            <a:picLocks noChangeAspect="1"/>
          </p:cNvPicPr>
          <p:nvPr/>
        </p:nvPicPr>
        <p:blipFill>
          <a:blip r:embed="rId5">
            <a:extLst>
              <a:ext uri="{28A0092B-C50C-407E-A947-70E740481C1C}">
                <a14:useLocalDpi xmlns:a14="http://schemas.microsoft.com/office/drawing/2010/main" val="0"/>
              </a:ext>
            </a:extLst>
          </a:blip>
          <a:srcRect l="8326" t="40478" r="55671" b="17620"/>
          <a:stretch>
            <a:fillRect/>
          </a:stretch>
        </p:blipFill>
        <p:spPr>
          <a:xfrm>
            <a:off x="6898785" y="2426541"/>
            <a:ext cx="3295650" cy="2876551"/>
          </a:xfrm>
          <a:prstGeom prst="rect">
            <a:avLst/>
          </a:prstGeom>
        </p:spPr>
      </p:pic>
      <p:pic>
        <p:nvPicPr>
          <p:cNvPr id="13" name="Picture 12">
            <a:extLst>
              <a:ext uri="{FF2B5EF4-FFF2-40B4-BE49-F238E27FC236}">
                <a16:creationId xmlns:a16="http://schemas.microsoft.com/office/drawing/2014/main" id="{4D78CC24-7C35-7BE9-4D4B-51DD35A1EC7C}"/>
              </a:ext>
            </a:extLst>
          </p:cNvPr>
          <p:cNvPicPr>
            <a:picLocks noChangeAspect="1"/>
          </p:cNvPicPr>
          <p:nvPr/>
        </p:nvPicPr>
        <p:blipFill>
          <a:blip r:embed="rId6"/>
          <a:stretch>
            <a:fillRect/>
          </a:stretch>
        </p:blipFill>
        <p:spPr>
          <a:xfrm>
            <a:off x="10269541" y="0"/>
            <a:ext cx="1922459" cy="6858000"/>
          </a:xfrm>
          <a:prstGeom prst="rect">
            <a:avLst/>
          </a:prstGeom>
        </p:spPr>
      </p:pic>
    </p:spTree>
    <p:extLst>
      <p:ext uri="{BB962C8B-B14F-4D97-AF65-F5344CB8AC3E}">
        <p14:creationId xmlns:p14="http://schemas.microsoft.com/office/powerpoint/2010/main" val="3231197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A8461-8555-D08D-A548-9EBF9B9C9B24}"/>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253DAC72-D5D7-CF70-D5F6-9A4EC8D6E7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63000" y="4572000"/>
            <a:ext cx="3429000" cy="2286000"/>
          </a:xfrm>
          <a:prstGeom prst="rect">
            <a:avLst/>
          </a:prstGeom>
        </p:spPr>
      </p:pic>
      <p:pic>
        <p:nvPicPr>
          <p:cNvPr id="5" name="Picture 4">
            <a:extLst>
              <a:ext uri="{FF2B5EF4-FFF2-40B4-BE49-F238E27FC236}">
                <a16:creationId xmlns:a16="http://schemas.microsoft.com/office/drawing/2014/main" id="{3C37AC57-2E87-DAAC-CF2A-E23E63816FA9}"/>
              </a:ext>
            </a:extLst>
          </p:cNvPr>
          <p:cNvPicPr>
            <a:picLocks noChangeAspect="1"/>
          </p:cNvPicPr>
          <p:nvPr/>
        </p:nvPicPr>
        <p:blipFill>
          <a:blip r:embed="rId3"/>
          <a:stretch>
            <a:fillRect/>
          </a:stretch>
        </p:blipFill>
        <p:spPr>
          <a:xfrm>
            <a:off x="10272591" y="133044"/>
            <a:ext cx="1743318" cy="4382112"/>
          </a:xfrm>
          <a:prstGeom prst="rect">
            <a:avLst/>
          </a:prstGeom>
        </p:spPr>
      </p:pic>
      <p:pic>
        <p:nvPicPr>
          <p:cNvPr id="9" name="Picture 8">
            <a:extLst>
              <a:ext uri="{FF2B5EF4-FFF2-40B4-BE49-F238E27FC236}">
                <a16:creationId xmlns:a16="http://schemas.microsoft.com/office/drawing/2014/main" id="{2A815547-79B1-5AF1-3579-73AAB3E66090}"/>
              </a:ext>
            </a:extLst>
          </p:cNvPr>
          <p:cNvPicPr>
            <a:picLocks noChangeAspect="1"/>
          </p:cNvPicPr>
          <p:nvPr/>
        </p:nvPicPr>
        <p:blipFill>
          <a:blip r:embed="rId4">
            <a:extLst>
              <a:ext uri="{28A0092B-C50C-407E-A947-70E740481C1C}">
                <a14:useLocalDpi xmlns:a14="http://schemas.microsoft.com/office/drawing/2010/main" val="0"/>
              </a:ext>
            </a:extLst>
          </a:blip>
          <a:srcRect l="32813" t="51250" r="33646" b="21110"/>
          <a:stretch>
            <a:fillRect/>
          </a:stretch>
        </p:blipFill>
        <p:spPr>
          <a:xfrm>
            <a:off x="908545" y="538234"/>
            <a:ext cx="4195885" cy="2593109"/>
          </a:xfrm>
          <a:prstGeom prst="rect">
            <a:avLst/>
          </a:prstGeom>
        </p:spPr>
      </p:pic>
      <p:pic>
        <p:nvPicPr>
          <p:cNvPr id="11" name="Picture 10">
            <a:extLst>
              <a:ext uri="{FF2B5EF4-FFF2-40B4-BE49-F238E27FC236}">
                <a16:creationId xmlns:a16="http://schemas.microsoft.com/office/drawing/2014/main" id="{02870C30-DE33-1052-E52B-BB9575388047}"/>
              </a:ext>
            </a:extLst>
          </p:cNvPr>
          <p:cNvPicPr>
            <a:picLocks noChangeAspect="1"/>
          </p:cNvPicPr>
          <p:nvPr/>
        </p:nvPicPr>
        <p:blipFill>
          <a:blip r:embed="rId5">
            <a:extLst>
              <a:ext uri="{28A0092B-C50C-407E-A947-70E740481C1C}">
                <a14:useLocalDpi xmlns:a14="http://schemas.microsoft.com/office/drawing/2010/main" val="0"/>
              </a:ext>
            </a:extLst>
          </a:blip>
          <a:srcRect l="13125" t="53473" r="61613" b="24722"/>
          <a:stretch>
            <a:fillRect/>
          </a:stretch>
        </p:blipFill>
        <p:spPr>
          <a:xfrm>
            <a:off x="6101491" y="471641"/>
            <a:ext cx="3766046" cy="2438094"/>
          </a:xfrm>
          <a:prstGeom prst="rect">
            <a:avLst/>
          </a:prstGeom>
        </p:spPr>
      </p:pic>
      <p:pic>
        <p:nvPicPr>
          <p:cNvPr id="13" name="Picture 12">
            <a:extLst>
              <a:ext uri="{FF2B5EF4-FFF2-40B4-BE49-F238E27FC236}">
                <a16:creationId xmlns:a16="http://schemas.microsoft.com/office/drawing/2014/main" id="{1F907FF8-7C0E-A84E-08DE-C82765B9A6EB}"/>
              </a:ext>
            </a:extLst>
          </p:cNvPr>
          <p:cNvPicPr>
            <a:picLocks noChangeAspect="1"/>
          </p:cNvPicPr>
          <p:nvPr/>
        </p:nvPicPr>
        <p:blipFill>
          <a:blip r:embed="rId6">
            <a:extLst>
              <a:ext uri="{28A0092B-C50C-407E-A947-70E740481C1C}">
                <a14:useLocalDpi xmlns:a14="http://schemas.microsoft.com/office/drawing/2010/main" val="0"/>
              </a:ext>
            </a:extLst>
          </a:blip>
          <a:srcRect l="33958" t="68333" r="40625"/>
          <a:stretch>
            <a:fillRect/>
          </a:stretch>
        </p:blipFill>
        <p:spPr>
          <a:xfrm>
            <a:off x="3264945" y="3304452"/>
            <a:ext cx="3678970" cy="3437726"/>
          </a:xfrm>
          <a:prstGeom prst="rect">
            <a:avLst/>
          </a:prstGeom>
        </p:spPr>
      </p:pic>
    </p:spTree>
    <p:extLst>
      <p:ext uri="{BB962C8B-B14F-4D97-AF65-F5344CB8AC3E}">
        <p14:creationId xmlns:p14="http://schemas.microsoft.com/office/powerpoint/2010/main" val="26655519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D9D9-CD01-610D-4F1B-8D7D85EE17A2}"/>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7725F54F-5FC9-77DA-72B3-0B372C192A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6912" y="4496756"/>
            <a:ext cx="3529013" cy="2352675"/>
          </a:xfrm>
          <a:prstGeom prst="rect">
            <a:avLst/>
          </a:prstGeom>
        </p:spPr>
      </p:pic>
      <p:pic>
        <p:nvPicPr>
          <p:cNvPr id="5" name="Picture 4">
            <a:extLst>
              <a:ext uri="{FF2B5EF4-FFF2-40B4-BE49-F238E27FC236}">
                <a16:creationId xmlns:a16="http://schemas.microsoft.com/office/drawing/2014/main" id="{04845ECE-7E6D-591E-EC9B-E1F2CBD94FF0}"/>
              </a:ext>
            </a:extLst>
          </p:cNvPr>
          <p:cNvPicPr>
            <a:picLocks noChangeAspect="1"/>
          </p:cNvPicPr>
          <p:nvPr/>
        </p:nvPicPr>
        <p:blipFill>
          <a:blip r:embed="rId3"/>
          <a:stretch>
            <a:fillRect/>
          </a:stretch>
        </p:blipFill>
        <p:spPr>
          <a:xfrm>
            <a:off x="10305925" y="8569"/>
            <a:ext cx="1790950" cy="6849431"/>
          </a:xfrm>
          <a:prstGeom prst="rect">
            <a:avLst/>
          </a:prstGeom>
        </p:spPr>
      </p:pic>
      <p:pic>
        <p:nvPicPr>
          <p:cNvPr id="9" name="Picture 8">
            <a:extLst>
              <a:ext uri="{FF2B5EF4-FFF2-40B4-BE49-F238E27FC236}">
                <a16:creationId xmlns:a16="http://schemas.microsoft.com/office/drawing/2014/main" id="{B0534CDC-9372-0114-FBB9-F5565D2A4FAB}"/>
              </a:ext>
            </a:extLst>
          </p:cNvPr>
          <p:cNvPicPr>
            <a:picLocks noChangeAspect="1"/>
          </p:cNvPicPr>
          <p:nvPr/>
        </p:nvPicPr>
        <p:blipFill>
          <a:blip r:embed="rId4">
            <a:extLst>
              <a:ext uri="{28A0092B-C50C-407E-A947-70E740481C1C}">
                <a14:useLocalDpi xmlns:a14="http://schemas.microsoft.com/office/drawing/2010/main" val="0"/>
              </a:ext>
            </a:extLst>
          </a:blip>
          <a:srcRect l="29792" t="42916" r="29166" b="19584"/>
          <a:stretch>
            <a:fillRect/>
          </a:stretch>
        </p:blipFill>
        <p:spPr>
          <a:xfrm>
            <a:off x="341833" y="592772"/>
            <a:ext cx="4075316" cy="2792730"/>
          </a:xfrm>
          <a:prstGeom prst="rect">
            <a:avLst/>
          </a:prstGeom>
        </p:spPr>
      </p:pic>
      <p:pic>
        <p:nvPicPr>
          <p:cNvPr id="11" name="Picture 10">
            <a:extLst>
              <a:ext uri="{FF2B5EF4-FFF2-40B4-BE49-F238E27FC236}">
                <a16:creationId xmlns:a16="http://schemas.microsoft.com/office/drawing/2014/main" id="{19A862EA-8AEE-ADB1-4EC4-77FF745B7266}"/>
              </a:ext>
            </a:extLst>
          </p:cNvPr>
          <p:cNvPicPr>
            <a:picLocks noChangeAspect="1"/>
          </p:cNvPicPr>
          <p:nvPr/>
        </p:nvPicPr>
        <p:blipFill>
          <a:blip r:embed="rId5">
            <a:extLst>
              <a:ext uri="{28A0092B-C50C-407E-A947-70E740481C1C}">
                <a14:useLocalDpi xmlns:a14="http://schemas.microsoft.com/office/drawing/2010/main" val="0"/>
              </a:ext>
            </a:extLst>
          </a:blip>
          <a:srcRect l="17291" t="42918" r="56459" b="22777"/>
          <a:stretch>
            <a:fillRect/>
          </a:stretch>
        </p:blipFill>
        <p:spPr>
          <a:xfrm>
            <a:off x="5724524" y="365125"/>
            <a:ext cx="3762375" cy="3687726"/>
          </a:xfrm>
          <a:prstGeom prst="rect">
            <a:avLst/>
          </a:prstGeom>
        </p:spPr>
      </p:pic>
      <p:pic>
        <p:nvPicPr>
          <p:cNvPr id="13" name="Picture 12">
            <a:extLst>
              <a:ext uri="{FF2B5EF4-FFF2-40B4-BE49-F238E27FC236}">
                <a16:creationId xmlns:a16="http://schemas.microsoft.com/office/drawing/2014/main" id="{FD234288-C4F1-47B1-6C8B-2B05A76A128B}"/>
              </a:ext>
            </a:extLst>
          </p:cNvPr>
          <p:cNvPicPr>
            <a:picLocks noChangeAspect="1"/>
          </p:cNvPicPr>
          <p:nvPr/>
        </p:nvPicPr>
        <p:blipFill>
          <a:blip r:embed="rId6">
            <a:extLst>
              <a:ext uri="{28A0092B-C50C-407E-A947-70E740481C1C}">
                <a14:useLocalDpi xmlns:a14="http://schemas.microsoft.com/office/drawing/2010/main" val="0"/>
              </a:ext>
            </a:extLst>
          </a:blip>
          <a:srcRect l="33438" t="65694" r="40208" b="6945"/>
          <a:stretch>
            <a:fillRect/>
          </a:stretch>
        </p:blipFill>
        <p:spPr>
          <a:xfrm>
            <a:off x="1886075" y="3733965"/>
            <a:ext cx="3667126" cy="2855432"/>
          </a:xfrm>
          <a:prstGeom prst="rect">
            <a:avLst/>
          </a:prstGeom>
        </p:spPr>
      </p:pic>
    </p:spTree>
    <p:extLst>
      <p:ext uri="{BB962C8B-B14F-4D97-AF65-F5344CB8AC3E}">
        <p14:creationId xmlns:p14="http://schemas.microsoft.com/office/powerpoint/2010/main" val="40372800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1B6008-CEA1-489E-353C-6F13ED92C5AB}"/>
              </a:ext>
            </a:extLst>
          </p:cNvPr>
          <p:cNvPicPr>
            <a:picLocks noChangeAspect="1"/>
          </p:cNvPicPr>
          <p:nvPr/>
        </p:nvPicPr>
        <p:blipFill>
          <a:blip r:embed="rId2"/>
          <a:stretch>
            <a:fillRect/>
          </a:stretch>
        </p:blipFill>
        <p:spPr>
          <a:xfrm>
            <a:off x="998183" y="2254750"/>
            <a:ext cx="4762745" cy="3206915"/>
          </a:xfrm>
          <a:prstGeom prst="rect">
            <a:avLst/>
          </a:prstGeom>
        </p:spPr>
      </p:pic>
      <p:pic>
        <p:nvPicPr>
          <p:cNvPr id="9" name="Picture 8">
            <a:extLst>
              <a:ext uri="{FF2B5EF4-FFF2-40B4-BE49-F238E27FC236}">
                <a16:creationId xmlns:a16="http://schemas.microsoft.com/office/drawing/2014/main" id="{DF232530-1617-4DBE-6584-694780EE8BB4}"/>
              </a:ext>
            </a:extLst>
          </p:cNvPr>
          <p:cNvPicPr>
            <a:picLocks noChangeAspect="1"/>
          </p:cNvPicPr>
          <p:nvPr/>
        </p:nvPicPr>
        <p:blipFill>
          <a:blip r:embed="rId3"/>
          <a:stretch>
            <a:fillRect/>
          </a:stretch>
        </p:blipFill>
        <p:spPr>
          <a:xfrm>
            <a:off x="5760928" y="2254750"/>
            <a:ext cx="4915153" cy="3206915"/>
          </a:xfrm>
          <a:prstGeom prst="rect">
            <a:avLst/>
          </a:prstGeom>
        </p:spPr>
      </p:pic>
      <p:sp>
        <p:nvSpPr>
          <p:cNvPr id="11" name="TextBox 10">
            <a:extLst>
              <a:ext uri="{FF2B5EF4-FFF2-40B4-BE49-F238E27FC236}">
                <a16:creationId xmlns:a16="http://schemas.microsoft.com/office/drawing/2014/main" id="{B33D5A59-5DB8-7C2A-B8E6-D3EA545E5BB4}"/>
              </a:ext>
            </a:extLst>
          </p:cNvPr>
          <p:cNvSpPr txBox="1"/>
          <p:nvPr/>
        </p:nvSpPr>
        <p:spPr>
          <a:xfrm>
            <a:off x="3722915" y="5525608"/>
            <a:ext cx="3760236" cy="369332"/>
          </a:xfrm>
          <a:prstGeom prst="rect">
            <a:avLst/>
          </a:prstGeom>
          <a:noFill/>
        </p:spPr>
        <p:txBody>
          <a:bodyPr wrap="square" rtlCol="0">
            <a:spAutoFit/>
          </a:bodyPr>
          <a:lstStyle/>
          <a:p>
            <a:r>
              <a:rPr lang="en-US" dirty="0"/>
              <a:t>Threshold (avg axon length/mm^3)</a:t>
            </a:r>
          </a:p>
        </p:txBody>
      </p:sp>
      <p:sp>
        <p:nvSpPr>
          <p:cNvPr id="13" name="TextBox 12">
            <a:extLst>
              <a:ext uri="{FF2B5EF4-FFF2-40B4-BE49-F238E27FC236}">
                <a16:creationId xmlns:a16="http://schemas.microsoft.com/office/drawing/2014/main" id="{EB1EC45D-4220-886D-590A-EA28EAED1763}"/>
              </a:ext>
            </a:extLst>
          </p:cNvPr>
          <p:cNvSpPr txBox="1"/>
          <p:nvPr/>
        </p:nvSpPr>
        <p:spPr>
          <a:xfrm rot="16200000">
            <a:off x="-682055" y="3470990"/>
            <a:ext cx="2801811" cy="369332"/>
          </a:xfrm>
          <a:prstGeom prst="rect">
            <a:avLst/>
          </a:prstGeom>
          <a:noFill/>
        </p:spPr>
        <p:txBody>
          <a:bodyPr wrap="square" rtlCol="0">
            <a:spAutoFit/>
          </a:bodyPr>
          <a:lstStyle/>
          <a:p>
            <a:r>
              <a:rPr lang="en-US" dirty="0"/>
              <a:t># regions below threshold</a:t>
            </a:r>
          </a:p>
        </p:txBody>
      </p:sp>
      <p:sp>
        <p:nvSpPr>
          <p:cNvPr id="14" name="Title 1">
            <a:extLst>
              <a:ext uri="{FF2B5EF4-FFF2-40B4-BE49-F238E27FC236}">
                <a16:creationId xmlns:a16="http://schemas.microsoft.com/office/drawing/2014/main" id="{74A727FF-A171-B25D-3AAB-C77EBFE77254}"/>
              </a:ext>
            </a:extLst>
          </p:cNvPr>
          <p:cNvSpPr>
            <a:spLocks noGrp="1"/>
          </p:cNvSpPr>
          <p:nvPr>
            <p:ph type="title"/>
          </p:nvPr>
        </p:nvSpPr>
        <p:spPr>
          <a:xfrm>
            <a:off x="838200" y="365125"/>
            <a:ext cx="10515600" cy="1325563"/>
          </a:xfrm>
        </p:spPr>
        <p:txBody>
          <a:bodyPr/>
          <a:lstStyle/>
          <a:p>
            <a:r>
              <a:rPr lang="en-US" dirty="0"/>
              <a:t>So threshold and cut regions innervated below some threshold</a:t>
            </a:r>
          </a:p>
        </p:txBody>
      </p:sp>
      <p:sp>
        <p:nvSpPr>
          <p:cNvPr id="16" name="TextBox 15">
            <a:extLst>
              <a:ext uri="{FF2B5EF4-FFF2-40B4-BE49-F238E27FC236}">
                <a16:creationId xmlns:a16="http://schemas.microsoft.com/office/drawing/2014/main" id="{02EA610E-8513-8BD7-189D-947F97A1FD00}"/>
              </a:ext>
            </a:extLst>
          </p:cNvPr>
          <p:cNvSpPr txBox="1"/>
          <p:nvPr/>
        </p:nvSpPr>
        <p:spPr>
          <a:xfrm>
            <a:off x="2912628" y="6004171"/>
            <a:ext cx="5988776" cy="646331"/>
          </a:xfrm>
          <a:prstGeom prst="rect">
            <a:avLst/>
          </a:prstGeom>
          <a:noFill/>
        </p:spPr>
        <p:txBody>
          <a:bodyPr wrap="square" rtlCol="0">
            <a:spAutoFit/>
          </a:bodyPr>
          <a:lstStyle/>
          <a:p>
            <a:r>
              <a:rPr lang="en-US" dirty="0"/>
              <a:t>Start with a threshold of 0.005 (drop regions that receive average of less than 0.005 um of axon / mm^3 of region)</a:t>
            </a:r>
          </a:p>
        </p:txBody>
      </p:sp>
    </p:spTree>
    <p:extLst>
      <p:ext uri="{BB962C8B-B14F-4D97-AF65-F5344CB8AC3E}">
        <p14:creationId xmlns:p14="http://schemas.microsoft.com/office/powerpoint/2010/main" val="19750008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775C9-4CD9-D30F-C9F2-09B92772DC41}"/>
              </a:ext>
            </a:extLst>
          </p:cNvPr>
          <p:cNvSpPr>
            <a:spLocks noGrp="1"/>
          </p:cNvSpPr>
          <p:nvPr>
            <p:ph type="title"/>
          </p:nvPr>
        </p:nvSpPr>
        <p:spPr/>
        <p:txBody>
          <a:bodyPr/>
          <a:lstStyle/>
          <a:p>
            <a:r>
              <a:rPr lang="en-US" dirty="0"/>
              <a:t>Same thing, but calculate average for a given region from cells that project to that region</a:t>
            </a:r>
          </a:p>
        </p:txBody>
      </p:sp>
      <p:pic>
        <p:nvPicPr>
          <p:cNvPr id="7" name="Content Placeholder 6">
            <a:extLst>
              <a:ext uri="{FF2B5EF4-FFF2-40B4-BE49-F238E27FC236}">
                <a16:creationId xmlns:a16="http://schemas.microsoft.com/office/drawing/2014/main" id="{BC57422A-F6F1-C23A-F62A-80143FF8670C}"/>
              </a:ext>
            </a:extLst>
          </p:cNvPr>
          <p:cNvPicPr>
            <a:picLocks noGrp="1" noChangeAspect="1"/>
          </p:cNvPicPr>
          <p:nvPr>
            <p:ph idx="1"/>
          </p:nvPr>
        </p:nvPicPr>
        <p:blipFill>
          <a:blip r:embed="rId2"/>
          <a:stretch>
            <a:fillRect/>
          </a:stretch>
        </p:blipFill>
        <p:spPr>
          <a:xfrm>
            <a:off x="1142359" y="2242245"/>
            <a:ext cx="4762745" cy="3206915"/>
          </a:xfrm>
          <a:prstGeom prst="rect">
            <a:avLst/>
          </a:prstGeom>
        </p:spPr>
      </p:pic>
      <p:pic>
        <p:nvPicPr>
          <p:cNvPr id="5" name="Picture 4">
            <a:extLst>
              <a:ext uri="{FF2B5EF4-FFF2-40B4-BE49-F238E27FC236}">
                <a16:creationId xmlns:a16="http://schemas.microsoft.com/office/drawing/2014/main" id="{BE9EF1E9-D590-C9E0-3CC1-DB643C4806FB}"/>
              </a:ext>
            </a:extLst>
          </p:cNvPr>
          <p:cNvPicPr>
            <a:picLocks noChangeAspect="1"/>
          </p:cNvPicPr>
          <p:nvPr/>
        </p:nvPicPr>
        <p:blipFill>
          <a:blip r:embed="rId3"/>
          <a:stretch>
            <a:fillRect/>
          </a:stretch>
        </p:blipFill>
        <p:spPr>
          <a:xfrm>
            <a:off x="6015778" y="2242245"/>
            <a:ext cx="4775445" cy="3213265"/>
          </a:xfrm>
          <a:prstGeom prst="rect">
            <a:avLst/>
          </a:prstGeom>
        </p:spPr>
      </p:pic>
      <p:sp>
        <p:nvSpPr>
          <p:cNvPr id="9" name="TextBox 8">
            <a:extLst>
              <a:ext uri="{FF2B5EF4-FFF2-40B4-BE49-F238E27FC236}">
                <a16:creationId xmlns:a16="http://schemas.microsoft.com/office/drawing/2014/main" id="{8B9C0121-51C0-E597-44F1-35AFE9232270}"/>
              </a:ext>
            </a:extLst>
          </p:cNvPr>
          <p:cNvSpPr txBox="1"/>
          <p:nvPr/>
        </p:nvSpPr>
        <p:spPr>
          <a:xfrm>
            <a:off x="4135660" y="5631385"/>
            <a:ext cx="3760236" cy="369332"/>
          </a:xfrm>
          <a:prstGeom prst="rect">
            <a:avLst/>
          </a:prstGeom>
          <a:noFill/>
        </p:spPr>
        <p:txBody>
          <a:bodyPr wrap="square" rtlCol="0">
            <a:spAutoFit/>
          </a:bodyPr>
          <a:lstStyle/>
          <a:p>
            <a:r>
              <a:rPr lang="en-US" dirty="0"/>
              <a:t>Threshold (avg axon length/mm^3)</a:t>
            </a:r>
          </a:p>
        </p:txBody>
      </p:sp>
      <p:sp>
        <p:nvSpPr>
          <p:cNvPr id="11" name="TextBox 10">
            <a:extLst>
              <a:ext uri="{FF2B5EF4-FFF2-40B4-BE49-F238E27FC236}">
                <a16:creationId xmlns:a16="http://schemas.microsoft.com/office/drawing/2014/main" id="{1AD034AE-F014-F6F3-7B29-BE6A9AE699F4}"/>
              </a:ext>
            </a:extLst>
          </p:cNvPr>
          <p:cNvSpPr txBox="1"/>
          <p:nvPr/>
        </p:nvSpPr>
        <p:spPr>
          <a:xfrm rot="16200000">
            <a:off x="-379984" y="3576767"/>
            <a:ext cx="2801811" cy="369332"/>
          </a:xfrm>
          <a:prstGeom prst="rect">
            <a:avLst/>
          </a:prstGeom>
          <a:noFill/>
        </p:spPr>
        <p:txBody>
          <a:bodyPr wrap="square" rtlCol="0">
            <a:spAutoFit/>
          </a:bodyPr>
          <a:lstStyle/>
          <a:p>
            <a:r>
              <a:rPr lang="en-US" dirty="0"/>
              <a:t># regions below threshold</a:t>
            </a:r>
          </a:p>
        </p:txBody>
      </p:sp>
      <p:sp>
        <p:nvSpPr>
          <p:cNvPr id="12" name="TextBox 11">
            <a:extLst>
              <a:ext uri="{FF2B5EF4-FFF2-40B4-BE49-F238E27FC236}">
                <a16:creationId xmlns:a16="http://schemas.microsoft.com/office/drawing/2014/main" id="{7BE92F4B-5AC2-91BC-0AE5-C53DCFD9CA58}"/>
              </a:ext>
            </a:extLst>
          </p:cNvPr>
          <p:cNvSpPr txBox="1"/>
          <p:nvPr/>
        </p:nvSpPr>
        <p:spPr>
          <a:xfrm>
            <a:off x="3673769" y="6182942"/>
            <a:ext cx="4462670" cy="369332"/>
          </a:xfrm>
          <a:prstGeom prst="rect">
            <a:avLst/>
          </a:prstGeom>
          <a:noFill/>
        </p:spPr>
        <p:txBody>
          <a:bodyPr wrap="square" rtlCol="0">
            <a:spAutoFit/>
          </a:bodyPr>
          <a:lstStyle/>
          <a:p>
            <a:r>
              <a:rPr lang="en-US" dirty="0"/>
              <a:t>Not as clear, maybe just thresh at like 0.06?</a:t>
            </a:r>
          </a:p>
        </p:txBody>
      </p:sp>
    </p:spTree>
    <p:extLst>
      <p:ext uri="{BB962C8B-B14F-4D97-AF65-F5344CB8AC3E}">
        <p14:creationId xmlns:p14="http://schemas.microsoft.com/office/powerpoint/2010/main" val="38174882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DA1C8-ED87-DB29-14B2-7C081CD55573}"/>
              </a:ext>
            </a:extLst>
          </p:cNvPr>
          <p:cNvSpPr>
            <a:spLocks noGrp="1"/>
          </p:cNvSpPr>
          <p:nvPr>
            <p:ph type="title"/>
          </p:nvPr>
        </p:nvSpPr>
        <p:spPr/>
        <p:txBody>
          <a:bodyPr>
            <a:normAutofit fontScale="90000"/>
          </a:bodyPr>
          <a:lstStyle/>
          <a:p>
            <a:r>
              <a:rPr lang="en-US" dirty="0"/>
              <a:t>After cutting regions w/previous thresh averaging over cells that project to a given region</a:t>
            </a:r>
          </a:p>
        </p:txBody>
      </p:sp>
      <p:pic>
        <p:nvPicPr>
          <p:cNvPr id="5" name="Picture 4">
            <a:extLst>
              <a:ext uri="{FF2B5EF4-FFF2-40B4-BE49-F238E27FC236}">
                <a16:creationId xmlns:a16="http://schemas.microsoft.com/office/drawing/2014/main" id="{E3016BE9-33D9-9CB3-B6EB-1EE7FC8328D3}"/>
              </a:ext>
            </a:extLst>
          </p:cNvPr>
          <p:cNvPicPr>
            <a:picLocks noChangeAspect="1"/>
          </p:cNvPicPr>
          <p:nvPr/>
        </p:nvPicPr>
        <p:blipFill>
          <a:blip r:embed="rId2"/>
          <a:stretch>
            <a:fillRect/>
          </a:stretch>
        </p:blipFill>
        <p:spPr>
          <a:xfrm>
            <a:off x="2240821" y="1940914"/>
            <a:ext cx="6070981" cy="4120760"/>
          </a:xfrm>
          <a:prstGeom prst="rect">
            <a:avLst/>
          </a:prstGeom>
        </p:spPr>
      </p:pic>
      <p:sp>
        <p:nvSpPr>
          <p:cNvPr id="7" name="TextBox 6">
            <a:extLst>
              <a:ext uri="{FF2B5EF4-FFF2-40B4-BE49-F238E27FC236}">
                <a16:creationId xmlns:a16="http://schemas.microsoft.com/office/drawing/2014/main" id="{C3F53854-AD06-5D29-216E-FAE07DF0D92B}"/>
              </a:ext>
            </a:extLst>
          </p:cNvPr>
          <p:cNvSpPr txBox="1"/>
          <p:nvPr/>
        </p:nvSpPr>
        <p:spPr>
          <a:xfrm>
            <a:off x="4329201" y="6061674"/>
            <a:ext cx="2528596" cy="369332"/>
          </a:xfrm>
          <a:prstGeom prst="rect">
            <a:avLst/>
          </a:prstGeom>
          <a:noFill/>
        </p:spPr>
        <p:txBody>
          <a:bodyPr wrap="square" rtlCol="0">
            <a:spAutoFit/>
          </a:bodyPr>
          <a:lstStyle/>
          <a:p>
            <a:r>
              <a:rPr lang="en-US" dirty="0"/>
              <a:t>n components</a:t>
            </a:r>
          </a:p>
        </p:txBody>
      </p:sp>
      <p:sp>
        <p:nvSpPr>
          <p:cNvPr id="9" name="TextBox 8">
            <a:extLst>
              <a:ext uri="{FF2B5EF4-FFF2-40B4-BE49-F238E27FC236}">
                <a16:creationId xmlns:a16="http://schemas.microsoft.com/office/drawing/2014/main" id="{D7405B43-CFF1-AFE9-6B25-D857A27158A0}"/>
              </a:ext>
            </a:extLst>
          </p:cNvPr>
          <p:cNvSpPr txBox="1"/>
          <p:nvPr/>
        </p:nvSpPr>
        <p:spPr>
          <a:xfrm rot="16200000">
            <a:off x="895647" y="3508718"/>
            <a:ext cx="2528596" cy="369332"/>
          </a:xfrm>
          <a:prstGeom prst="rect">
            <a:avLst/>
          </a:prstGeom>
          <a:noFill/>
        </p:spPr>
        <p:txBody>
          <a:bodyPr wrap="square" rtlCol="0">
            <a:spAutoFit/>
          </a:bodyPr>
          <a:lstStyle/>
          <a:p>
            <a:r>
              <a:rPr lang="en-US" dirty="0"/>
              <a:t>explained variance</a:t>
            </a:r>
          </a:p>
        </p:txBody>
      </p:sp>
      <p:sp>
        <p:nvSpPr>
          <p:cNvPr id="11" name="TextBox 10">
            <a:extLst>
              <a:ext uri="{FF2B5EF4-FFF2-40B4-BE49-F238E27FC236}">
                <a16:creationId xmlns:a16="http://schemas.microsoft.com/office/drawing/2014/main" id="{62D0CD58-01E2-B958-C8AF-39F847B5DED3}"/>
              </a:ext>
            </a:extLst>
          </p:cNvPr>
          <p:cNvSpPr txBox="1"/>
          <p:nvPr/>
        </p:nvSpPr>
        <p:spPr>
          <a:xfrm>
            <a:off x="9236643" y="2929812"/>
            <a:ext cx="2117157" cy="646331"/>
          </a:xfrm>
          <a:prstGeom prst="rect">
            <a:avLst/>
          </a:prstGeom>
          <a:noFill/>
        </p:spPr>
        <p:txBody>
          <a:bodyPr wrap="square" rtlCol="0">
            <a:spAutoFit/>
          </a:bodyPr>
          <a:lstStyle/>
          <a:p>
            <a:r>
              <a:rPr lang="en-US" dirty="0"/>
              <a:t>First 10 PCs explain 93% variance</a:t>
            </a:r>
          </a:p>
        </p:txBody>
      </p:sp>
    </p:spTree>
    <p:extLst>
      <p:ext uri="{BB962C8B-B14F-4D97-AF65-F5344CB8AC3E}">
        <p14:creationId xmlns:p14="http://schemas.microsoft.com/office/powerpoint/2010/main" val="27949415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33545</TotalTime>
  <Words>726</Words>
  <Application>Microsoft Office PowerPoint</Application>
  <PresentationFormat>Widescreen</PresentationFormat>
  <Paragraphs>178</Paragraphs>
  <Slides>40</Slides>
  <Notes>11</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PCA on this same data, plotting explained variance by component</vt:lpstr>
      <vt:lpstr>Cluster on top 20 components</vt:lpstr>
      <vt:lpstr>PowerPoint Presentation</vt:lpstr>
      <vt:lpstr>Loadings of regions onto top 6 PCs</vt:lpstr>
      <vt:lpstr>sPCA cell by cell correlation coefficient, again top 20 PCs</vt:lpstr>
      <vt:lpstr>PowerPoint Presentation</vt:lpstr>
      <vt:lpstr>Loadings of regions onto top 6 PCs</vt:lpstr>
      <vt:lpstr>UMAP of sPCA’d data, clusters aren’t super distinct</vt:lpstr>
      <vt:lpstr>Grouping regions by clustered correlations</vt:lpstr>
      <vt:lpstr>Lump a bunch of regions together, keep relevant ones separate</vt:lpstr>
      <vt:lpstr>Cell by cell clustering on combined region lengths</vt:lpstr>
      <vt:lpstr>Cell by cell clustering on combined region lengths</vt:lpstr>
      <vt:lpstr>PowerPoint Presentation</vt:lpstr>
      <vt:lpstr>PowerPoint Presentation</vt:lpstr>
      <vt:lpstr>PowerPoint Presentation</vt:lpstr>
      <vt:lpstr>PowerPoint Presentation</vt:lpstr>
      <vt:lpstr>UMAP of combined region data</vt:lpstr>
      <vt:lpstr>UMAP but drop the mossy fibers</vt:lpstr>
      <vt:lpstr>Create large feature matrix using morphometrics</vt:lpstr>
      <vt:lpstr>Random forest classification</vt:lpstr>
      <vt:lpstr>Classifier tends to get the same cells wrong</vt:lpstr>
      <vt:lpstr>Importance of features by mean Gini entropy loss during random forest classification</vt:lpstr>
      <vt:lpstr>Feature x feature correlations after dropping</vt:lpstr>
      <vt:lpstr>Current feature set (length and ends combined here, but not when classifying/clustering)</vt:lpstr>
      <vt:lpstr>Since features are correlated, clustering on cell correlations doesn’t work</vt:lpstr>
      <vt:lpstr>PowerPoint Presentation</vt:lpstr>
      <vt:lpstr>Phox2b cells (colored by assigned phenotype)</vt:lpstr>
      <vt:lpstr>PowerPoint Presentation</vt:lpstr>
      <vt:lpstr>PowerPoint Presentation</vt:lpstr>
      <vt:lpstr>PowerPoint Presentation</vt:lpstr>
      <vt:lpstr>PowerPoint Presentation</vt:lpstr>
      <vt:lpstr>PowerPoint Presentation</vt:lpstr>
      <vt:lpstr>So threshold and cut regions innervated below some threshold</vt:lpstr>
      <vt:lpstr>Same thing, but calculate average for a given region from cells that project to that region</vt:lpstr>
      <vt:lpstr>After cutting regions w/previous thresh averaging over cells that project to a given region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Krick, Samuel</dc:creator>
  <cp:lastModifiedBy>Krick, Samuel</cp:lastModifiedBy>
  <cp:revision>15</cp:revision>
  <dcterms:created xsi:type="dcterms:W3CDTF">2026-09-28T18:10:32Z</dcterms:created>
  <dcterms:modified xsi:type="dcterms:W3CDTF">2026-10-28T17:14:11Z</dcterms:modified>
</cp:coreProperties>
</file>